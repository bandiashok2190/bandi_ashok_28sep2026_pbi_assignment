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0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Sales by year ($M)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($M)</c:v>
                </c:pt>
              </c:strCache>
            </c:strRef>
          </c:tx>
          <c:spPr>
            <a:solidFill>
              <a:srgbClr val="009AA6"/>
            </a:solidFill>
            <a:ln>
              <a:solidFill>
                <a:srgbClr val="009AA6"/>
              </a:solidFill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2021</c:v>
                </c:pt>
                <c:pt idx="1">
                  <c:v>2022</c:v>
                </c:pt>
                <c:pt idx="2">
                  <c:v>2023 (to Mar 15)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11.69</c:v>
                </c:pt>
                <c:pt idx="1">
                  <c:v>11.57</c:v>
                </c:pt>
                <c:pt idx="2">
                  <c:v>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8D-47F3-B5B6-B289D17B2C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Monthly sales ($K)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009AA6"/>
            </a:solidFill>
            <a:ln w="31750" cap="flat">
              <a:solidFill>
                <a:srgbClr val="009AA6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5A6675"/>
              </a:solidFill>
              <a:ln w="9525" cap="flat">
                <a:solidFill>
                  <a:srgbClr val="5A6675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1025</c:v>
                </c:pt>
                <c:pt idx="1">
                  <c:v>990</c:v>
                </c:pt>
                <c:pt idx="2">
                  <c:v>917</c:v>
                </c:pt>
                <c:pt idx="3">
                  <c:v>954</c:v>
                </c:pt>
                <c:pt idx="4">
                  <c:v>1011</c:v>
                </c:pt>
                <c:pt idx="5">
                  <c:v>1050</c:v>
                </c:pt>
                <c:pt idx="6">
                  <c:v>893</c:v>
                </c:pt>
                <c:pt idx="7">
                  <c:v>923</c:v>
                </c:pt>
                <c:pt idx="8">
                  <c:v>993</c:v>
                </c:pt>
                <c:pt idx="9">
                  <c:v>917</c:v>
                </c:pt>
                <c:pt idx="10">
                  <c:v>1019</c:v>
                </c:pt>
                <c:pt idx="11">
                  <c:v>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3AE-4519-8DAC-07DC67C23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9AA6"/>
            </a:solidFill>
            <a:ln w="31750" cap="flat">
              <a:solidFill>
                <a:srgbClr val="009AA6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39A8E"/>
              </a:solidFill>
              <a:ln w="9525" cap="flat">
                <a:solidFill>
                  <a:srgbClr val="139A8E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945</c:v>
                </c:pt>
                <c:pt idx="1">
                  <c:v>913</c:v>
                </c:pt>
                <c:pt idx="2">
                  <c:v>984</c:v>
                </c:pt>
                <c:pt idx="3">
                  <c:v>985</c:v>
                </c:pt>
                <c:pt idx="4">
                  <c:v>866</c:v>
                </c:pt>
                <c:pt idx="5">
                  <c:v>1017</c:v>
                </c:pt>
                <c:pt idx="6">
                  <c:v>938</c:v>
                </c:pt>
                <c:pt idx="7">
                  <c:v>888</c:v>
                </c:pt>
                <c:pt idx="8">
                  <c:v>960</c:v>
                </c:pt>
                <c:pt idx="9">
                  <c:v>982</c:v>
                </c:pt>
                <c:pt idx="10">
                  <c:v>1035</c:v>
                </c:pt>
                <c:pt idx="11">
                  <c:v>1053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3AE-4519-8DAC-07DC67C23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009AA6"/>
            </a:solidFill>
            <a:ln w="31750" cap="flat">
              <a:solidFill>
                <a:srgbClr val="009AA6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2A413"/>
              </a:solidFill>
              <a:ln w="9525" cap="flat">
                <a:solidFill>
                  <a:srgbClr val="F2A413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900</c:v>
                </c:pt>
                <c:pt idx="1">
                  <c:v>977</c:v>
                </c:pt>
                <c:pt idx="2">
                  <c:v>528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3AE-4519-8DAC-07DC67C23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0"/>
          <c:min val="40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67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Top 10 products by gross profit ($K)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profit ($K)</c:v>
                </c:pt>
              </c:strCache>
            </c:strRef>
          </c:tx>
          <c:spPr>
            <a:solidFill>
              <a:srgbClr val="009AA6"/>
            </a:solidFill>
            <a:ln>
              <a:solidFill>
                <a:srgbClr val="009AA6"/>
              </a:solidFill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Product 96</c:v>
                </c:pt>
                <c:pt idx="1">
                  <c:v>Product 29</c:v>
                </c:pt>
                <c:pt idx="2">
                  <c:v>Product 34</c:v>
                </c:pt>
                <c:pt idx="3">
                  <c:v>Product 31</c:v>
                </c:pt>
                <c:pt idx="4">
                  <c:v>Product 51</c:v>
                </c:pt>
                <c:pt idx="5">
                  <c:v>Product 64</c:v>
                </c:pt>
                <c:pt idx="6">
                  <c:v>Product 47</c:v>
                </c:pt>
                <c:pt idx="7">
                  <c:v>Product 79</c:v>
                </c:pt>
                <c:pt idx="8">
                  <c:v>Product 41</c:v>
                </c:pt>
                <c:pt idx="9">
                  <c:v>Product 28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178</c:v>
                </c:pt>
                <c:pt idx="1">
                  <c:v>187</c:v>
                </c:pt>
                <c:pt idx="2">
                  <c:v>184</c:v>
                </c:pt>
                <c:pt idx="3">
                  <c:v>197</c:v>
                </c:pt>
                <c:pt idx="4">
                  <c:v>197</c:v>
                </c:pt>
                <c:pt idx="5">
                  <c:v>203</c:v>
                </c:pt>
                <c:pt idx="6">
                  <c:v>206</c:v>
                </c:pt>
                <c:pt idx="7">
                  <c:v>209</c:v>
                </c:pt>
                <c:pt idx="8">
                  <c:v>214</c:v>
                </c:pt>
                <c:pt idx="9">
                  <c:v>248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E4-4791-8FD4-2B27C038BC0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Sales by county, top 6 ($M)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($M)</c:v>
                </c:pt>
              </c:strCache>
            </c:strRef>
          </c:tx>
          <c:spPr>
            <a:solidFill>
              <a:srgbClr val="009AA6"/>
            </a:solidFill>
            <a:ln>
              <a:solidFill>
                <a:srgbClr val="009AA6"/>
              </a:solidFill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Alameda</c:v>
                </c:pt>
                <c:pt idx="1">
                  <c:v>Riverside</c:v>
                </c:pt>
                <c:pt idx="2">
                  <c:v>San Bernardino</c:v>
                </c:pt>
                <c:pt idx="3">
                  <c:v>San Diego</c:v>
                </c:pt>
                <c:pt idx="4">
                  <c:v>Orange</c:v>
                </c:pt>
                <c:pt idx="5">
                  <c:v>Los Angeles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1.46</c:v>
                </c:pt>
                <c:pt idx="1">
                  <c:v>2.08</c:v>
                </c:pt>
                <c:pt idx="2">
                  <c:v>2.41</c:v>
                </c:pt>
                <c:pt idx="3">
                  <c:v>2.46</c:v>
                </c:pt>
                <c:pt idx="4">
                  <c:v>2.6</c:v>
                </c:pt>
                <c:pt idx="5">
                  <c:v>5.63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E4-41BF-9D72-227C99545E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Budget vs. actual, 74 locations ($M)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spPr>
            <a:solidFill>
              <a:srgbClr val="009AA6"/>
            </a:solidFill>
            <a:ln>
              <a:solidFill>
                <a:srgbClr val="009AA6"/>
              </a:solidFill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Annual budget</c:v>
                </c:pt>
                <c:pt idx="1">
                  <c:v>2021 actual</c:v>
                </c:pt>
                <c:pt idx="2">
                  <c:v>2022 actual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3.21</c:v>
                </c:pt>
                <c:pt idx="1">
                  <c:v>11.69</c:v>
                </c:pt>
                <c:pt idx="2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B6-4FA8-91A3-5DFCF8184A1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5377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452360" y="-1417320"/>
            <a:ext cx="2926080" cy="2926080"/>
          </a:xfrm>
          <a:prstGeom prst="ellipse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52360" y="1051560"/>
            <a:ext cx="2926080" cy="2926080"/>
          </a:xfrm>
          <a:prstGeom prst="ellipse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1C30"/>
                </a:solidFill>
                <a:latin typeface="Aptos"/>
              </a:rPr>
              <a:t>POWER BI  •  RETAIL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6949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21C30"/>
                </a:solidFill>
                <a:latin typeface="Aptos"/>
              </a:rPr>
              <a:t>Retail Sales &amp; Budget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95728"/>
            <a:ext cx="7040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1C30"/>
                </a:solidFill>
                <a:latin typeface="Aptos"/>
              </a:rPr>
              <a:t>A decision-focused view of revenue, margin, customers, products and budget quality.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01568"/>
            <a:ext cx="53035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75304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1C30"/>
                </a:solidFill>
                <a:latin typeface="Aptos"/>
              </a:rPr>
              <a:t>PREPARED BY  ASHOK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931920"/>
            <a:ext cx="4663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1C30"/>
                </a:solidFill>
                <a:latin typeface="Aptos"/>
              </a:rPr>
              <a:t>10,889 orders  •  Jan 2021 – Mar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90288"/>
            <a:ext cx="162763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690872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009AA6"/>
                </a:solidFill>
                <a:latin typeface="Aptos"/>
              </a:rPr>
              <a:t>$25.66M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928616"/>
            <a:ext cx="140817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C30"/>
                </a:solidFill>
                <a:latin typeface="Aptos"/>
              </a:rPr>
              <a:t>TOTAL SALES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87168" y="4590288"/>
            <a:ext cx="162763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6896" y="4690872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009AA6"/>
                </a:solidFill>
                <a:latin typeface="Aptos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6896" y="4928616"/>
            <a:ext cx="140817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C30"/>
                </a:solidFill>
                <a:latin typeface="Aptos"/>
              </a:rPr>
              <a:t>PROFIT MARGIN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4590288"/>
            <a:ext cx="162763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3984" y="4690872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009AA6"/>
                </a:solidFill>
                <a:latin typeface="Aptos"/>
              </a:rPr>
              <a:t>10,889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4928616"/>
            <a:ext cx="140817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C30"/>
                </a:solidFill>
                <a:latin typeface="Aptos"/>
              </a:rPr>
              <a:t>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53542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C30"/>
                </a:solidFill>
                <a:latin typeface="Aptos"/>
              </a:rPr>
              <a:t>BUSINESS
INTELLIGENCE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From raw transactions to management questions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BUSINESS 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Which products, customers, locations and sales patterns deserve management attention?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52044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703320" y="14081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Sales visibility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719072"/>
            <a:ext cx="2240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Bring three years of sales into one consistent reporting view.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14081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Product profitability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719072"/>
            <a:ext cx="2240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Separate high-volume products from products that actually protect margin.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20440" y="2971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3703320" y="30998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Customer behavior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3410712"/>
            <a:ext cx="2240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Understand concentration, inactive buyers and market penetration.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2971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46520" y="30998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Budget tracking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410712"/>
            <a:ext cx="2240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Compare actual sales with the available budget — after validating the budget data.</a:t>
            </a:r>
            <a:endParaRPr lang="en-US" sz="1150" dirty="0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Data preparation creates one reliable sales layer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09AA6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10,889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sales transactions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48256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048256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048256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39312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639312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39312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30368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230368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509 / 801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customers who bought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21424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21424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821424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salespeople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4008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POWER QUERY WORKFLOW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34640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>
                <a:solidFill>
                  <a:srgbClr val="121C30"/>
                </a:solidFill>
                <a:latin typeface="Aptos"/>
              </a:rPr>
              <a:t>Loaded nine source sheets; checked types, nulls and keys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Combined 2021–2023 sales into Fact_Sales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Standardized labels and data types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Removed unused budgeting fields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Created sales, cost and profit fields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4632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QUALITY CHECKS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2834640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>
                <a:solidFill>
                  <a:srgbClr val="121C30"/>
                </a:solidFill>
                <a:latin typeface="Aptos"/>
              </a:rPr>
              <a:t>No duplicate order IDs and no missing sales records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2023 contains data only through March 15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All 74 locations are in California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Budget location labels do not reconcile with the location dimension</a:t>
            </a:r>
            <a:endParaRPr 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A star schema keeps the model easy to filter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645920" y="1645920"/>
            <a:ext cx="1554480" cy="1417320"/>
          </a:xfrm>
          <a:prstGeom prst="line">
            <a:avLst/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3200400" y="1645920"/>
            <a:ext cx="1371600" cy="1417320"/>
          </a:xfrm>
          <a:prstGeom prst="line">
            <a:avLst/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280160" y="3017520"/>
            <a:ext cx="1920240" cy="45720"/>
          </a:xfrm>
          <a:prstGeom prst="line">
            <a:avLst/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 flipV="1">
            <a:off x="3200400" y="3017520"/>
            <a:ext cx="1737360" cy="45720"/>
          </a:xfrm>
          <a:prstGeom prst="line">
            <a:avLst/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0" y="3063240"/>
            <a:ext cx="91440" cy="1188720"/>
          </a:xfrm>
          <a:prstGeom prst="line">
            <a:avLst/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325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2960" y="1417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Dim_Product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Product 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49040" y="1325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749040" y="1417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Customer ID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57200" y="2788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Dim_Location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0632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Location 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0" y="26974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114800" y="2788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Dim_Salesperson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30632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Salesperson 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468880" y="39319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2468880" y="40233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429768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Date (marked)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377440" y="269748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23774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Fact_Sales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31089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Qty · Price · Order Date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26480" y="132588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30936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MODEL NOTES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09360" y="178308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400">
                <a:solidFill>
                  <a:srgbClr val="121C30"/>
                </a:solidFill>
                <a:latin typeface="Aptos"/>
              </a:rPr>
              <a:t>Dimension tables filter the central fact table through one-to-many relationships.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The date dimension is the official calendar and controls time calculations.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Budget information is connected through Location ID.</a:t>
            </a:r>
            <a:endParaRPr lang="en-US" sz="1150" dirty="0"/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04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DAX converts transactions into decision-ready measures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2788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21792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SALES &amp; MARGIN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9164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Total Sales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SUMX(Fact_Sales, Qty * Price)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Gross Margin %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DIVIDE([Gross Profit], [Total Sales])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AOV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DIVIDE([Total Sales], [Total Orders])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46120" y="1234440"/>
            <a:ext cx="2651760" cy="2788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410712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TIME COMPARISONS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69164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YTD Sales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TOTALYTD([Total Sales], Dim_Date[Date])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PY Sales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CALCULATE([Total Sales],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SAMEPERIODLASTYEAR(Dim_Date[Date]))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YoY %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DIVIDE([Total Sales]-[PY Sales], [PY Sales])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035040" y="1234440"/>
            <a:ext cx="2651760" cy="2788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99632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BUDGET &amp; RANKING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69164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Variance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[Total Sales] - [Budget]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Achievement %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DIVIDE([Total Sales], [Budget])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Rank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21C30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RANKX(ALL(Dim_Product), [Total Sales])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Columns store row-level calculations; measures remain responsive to slicers and filters.</a:t>
            </a:r>
            <a:endParaRPr lang="en-US" sz="1150" dirty="0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The business is stable, but growth is not accelerating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09AA6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$25.66M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Total sales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30552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130552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09AA6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$8.34M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30552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Gross profit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03904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803904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09AA6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32.5%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803904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Gross margin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77256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77256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09AA6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10,889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477256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Orders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50608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150608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09AA6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$2,357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150608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Average order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47548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20" name="Chart 0"/>
          <p:cNvGraphicFramePr/>
          <p:nvPr/>
        </p:nvGraphicFramePr>
        <p:xfrm>
          <a:off x="548640" y="2331720"/>
          <a:ext cx="45720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5394960" y="2286000"/>
            <a:ext cx="3291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577840" y="24140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COMPARABLE PERIOD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577840" y="2724912"/>
            <a:ext cx="2926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Using Jan 1–Mar 15 for a fair comparison: 2021 $2.47M • 2022 $2.32M • 2023 $2.40M. The 2023 figure is not a full-year result.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39227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MARGIN SIGNAL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577840" y="4233672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Gross margin remains almost unchanged: 32.6% in 2021, 32.5% in 2022 and 32.5% in 2023.</a:t>
            </a:r>
            <a:endParaRPr 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Seasonality explains much of the monthly movement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21208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5" name="Chart 0"/>
          <p:cNvGraphicFramePr/>
          <p:nvPr/>
        </p:nvGraphicFramePr>
        <p:xfrm>
          <a:off x="548640" y="1234440"/>
          <a:ext cx="50292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188720"/>
            <a:ext cx="2834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6035040" y="13167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PATTERN 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6276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November, December and June are the strongest months; July and August are the softer period.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52160" y="242316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035040" y="25511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PATTERN 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286207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Q4 2022 generated $3.07M, the strongest quarter in the period.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852160" y="3566160"/>
            <a:ext cx="2834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035040" y="36941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PATTERN 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4005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2022 ended about 1.1% below 2021, while the comparable early-2023 period improved 3.7% over 2022.</a:t>
            </a:r>
            <a:endParaRPr lang="en-US" sz="1150" dirty="0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07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Revenue leaders and profit leaders are not always the same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5" name="Chart 0"/>
          <p:cNvGraphicFramePr/>
          <p:nvPr/>
        </p:nvGraphicFramePr>
        <p:xfrm>
          <a:off x="548640" y="1234440"/>
          <a:ext cx="43891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212080" y="1188720"/>
            <a:ext cx="3474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394960" y="1316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VOLUME WITH LOW MARGIN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627632"/>
            <a:ext cx="310896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Product 84 generated $529K at 17% margin; Products 66 and 4 also sit below 20%. Fifteen of 101 products fall under that threshold.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212080" y="288036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394960" y="30083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PROFITABILITY LEADERS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33192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Product 63 leads revenue at $628K with 28% margin. Product 28 generates the highest profit at $248K with 41% margin.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212080" y="3886200"/>
            <a:ext cx="3474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394960" y="40142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CUSTOMER MIX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4325112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The top 10 customers contribute 5.4% of sales. A group of 155 active buyers accounts for roughly half of revenue.</a:t>
            </a:r>
            <a:endParaRPr lang="en-US" sz="1150" dirty="0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08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Large populations do not automatically translate into sales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5" name="Chart 0"/>
          <p:cNvGraphicFramePr/>
          <p:nvPr/>
        </p:nvGraphicFramePr>
        <p:xfrm>
          <a:off x="548640" y="1234440"/>
          <a:ext cx="38404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663440" y="118872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4846320" y="1316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MARKET SIGNAL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627632"/>
            <a:ext cx="36576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Sales and population show a very weak correlation of 0.07. Los Angeles has about 3.97M residents but only about $96 in sales per 1,000 residents, compared with $575 in Fresno.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297180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846320" y="30998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TEAM SIGNAL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3410712"/>
            <a:ext cx="36576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Kenneth Bradley leads sales at $679K and profit at $227K. Ryan Welch records the highest order count at 273.</a:t>
            </a:r>
            <a:endParaRPr lang="en-US" sz="1150" dirty="0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Budget reporting needs a data-quality checkpoint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5" name="Chart 0"/>
          <p:cNvGraphicFramePr/>
          <p:nvPr/>
        </p:nvGraphicFramePr>
        <p:xfrm>
          <a:off x="548640" y="1234440"/>
          <a:ext cx="38404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663440" y="11887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4846320" y="1316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WHAT THE MODEL SHOWS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62763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Actual sales are roughly 3.6 times the recorded budget overall, with location-level achievement from about 1.7x to 8.5x.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23774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84632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WHY THIS NEEDS REVIEW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2816352"/>
            <a:ext cx="3657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Budget names do not match the location dimension for the same IDs, and 23 budget locations have no corresponding sales.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009AA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846320" y="37398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MANAGEMENT ACTION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4050792"/>
            <a:ext cx="3657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Validate the budget scale and location mapping before using achievement percentages for performance decisions.</a:t>
            </a:r>
            <a:endParaRPr lang="en-US" sz="1150" dirty="0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121C30"/>
                </a:solidFill>
                <a:latin typeface="Aptos"/>
              </a:rPr>
              <a:t>Key takeaways and next actions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121C30"/>
                </a:solidFill>
                <a:latin typeface="Aptos"/>
              </a:rPr>
              <a:t>Retail Sales &amp; Budget Analytics  | 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58368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WHAT IS WORKING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7452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121C30"/>
                </a:solidFill>
                <a:latin typeface="Aptos"/>
              </a:rPr>
              <a:t>Stable ~32.5% margin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Broad customer base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All 74 locations and 45 salespeople contribute sales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447288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WHERE TO LOOK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187452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121C30"/>
                </a:solidFill>
                <a:latin typeface="Aptos"/>
              </a:rPr>
              <a:t>Growth is broadly flat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15 products fall below 20% margin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Budget data requires reconciliation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009AA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236208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09AA6"/>
                </a:solidFill>
                <a:latin typeface="Aptos"/>
              </a:rPr>
              <a:t>WHAT TO DO NEXT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87452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121C30"/>
                </a:solidFill>
                <a:latin typeface="Aptos"/>
              </a:rPr>
              <a:t>Review price/cost structure for Products 84, 66 and 4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Test growth campaigns in large under-penetrated markets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Repair budget master data and monitor monthly achievement</a:t>
            </a:r>
            <a:br/>
            <a:r>
              <a:rPr sz="1400">
                <a:solidFill>
                  <a:srgbClr val="121C30"/>
                </a:solidFill>
                <a:latin typeface="Aptos"/>
              </a:rPr>
              <a:t>Use July–August promotions and customer reactivation to address weak demand</a:t>
            </a:r>
            <a:endParaRPr lang="en-US" sz="1300" dirty="0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21C30"/>
                </a:solidFill>
                <a:latin typeface="Aptos"/>
              </a:rPr>
              <a:t>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1089</Words>
  <Application>Microsoft Office PowerPoint</Application>
  <PresentationFormat>On-screen Show (16:9)</PresentationFormat>
  <Paragraphs>159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Sales Performance &amp; Budget Intelligence Dashboard</dc:title>
  <dc:subject>PptxGenJS Presentation</dc:subject>
  <dc:creator>PptxGenJS</dc:creator>
  <cp:lastModifiedBy>CHINDANUR NAKUL SRIRAJ</cp:lastModifiedBy>
  <cp:revision>2</cp:revision>
  <dcterms:created xsi:type="dcterms:W3CDTF">2026-09-28T12:49:03Z</dcterms:created>
  <dcterms:modified xsi:type="dcterms:W3CDTF">2026-09-28T12:52:04Z</dcterms:modified>
</cp:coreProperties>
</file>