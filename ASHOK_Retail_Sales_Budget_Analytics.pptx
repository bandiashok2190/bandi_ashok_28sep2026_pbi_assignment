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8E5CF6"/>
            </a:solidFill>
            <a:ln>
              <a:solidFill>
                <a:srgbClr val="8E5CF6"/>
              </a:solidFill>
            </a:ln>
          </c:spPr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2023*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11.69</c:v>
                </c:pt>
                <c:pt idx="1">
                  <c:v>11.57</c:v>
                </c:pt>
                <c:pt idx="2">
                  <c:v>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ln w="25400">
              <a:solidFill>
                <a:srgbClr val="8E5CF6"/>
              </a:solidFill>
            </a:ln>
          </c:spPr>
          <c:marker>
            <c:spPr>
              <a:solidFill>
                <a:srgbClr val="8E5CF6"/>
              </a:solidFill>
              <a:ln>
                <a:solidFill>
                  <a:srgbClr val="8E5CF6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1025</c:v>
                </c:pt>
                <c:pt idx="1">
                  <c:v>990</c:v>
                </c:pt>
                <c:pt idx="2">
                  <c:v>917</c:v>
                </c:pt>
                <c:pt idx="3">
                  <c:v>954</c:v>
                </c:pt>
                <c:pt idx="4">
                  <c:v>1011</c:v>
                </c:pt>
                <c:pt idx="5">
                  <c:v>1050</c:v>
                </c:pt>
                <c:pt idx="6">
                  <c:v>893</c:v>
                </c:pt>
                <c:pt idx="7">
                  <c:v>923</c:v>
                </c:pt>
                <c:pt idx="8">
                  <c:v>993</c:v>
                </c:pt>
                <c:pt idx="9">
                  <c:v>917</c:v>
                </c:pt>
                <c:pt idx="10">
                  <c:v>1019</c:v>
                </c:pt>
                <c:pt idx="11">
                  <c:v>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ln w="25400">
              <a:solidFill>
                <a:srgbClr val="45B4FF"/>
              </a:solidFill>
            </a:ln>
          </c:spPr>
          <c:marker>
            <c:spPr>
              <a:solidFill>
                <a:srgbClr val="45B4FF"/>
              </a:solidFill>
              <a:ln>
                <a:solidFill>
                  <a:srgbClr val="45B4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945</c:v>
                </c:pt>
                <c:pt idx="1">
                  <c:v>913</c:v>
                </c:pt>
                <c:pt idx="2">
                  <c:v>984</c:v>
                </c:pt>
                <c:pt idx="3">
                  <c:v>985</c:v>
                </c:pt>
                <c:pt idx="4">
                  <c:v>866</c:v>
                </c:pt>
                <c:pt idx="5">
                  <c:v>1017</c:v>
                </c:pt>
                <c:pt idx="6">
                  <c:v>938</c:v>
                </c:pt>
                <c:pt idx="7">
                  <c:v>888</c:v>
                </c:pt>
                <c:pt idx="8">
                  <c:v>960</c:v>
                </c:pt>
                <c:pt idx="9">
                  <c:v>982</c:v>
                </c:pt>
                <c:pt idx="10">
                  <c:v>1035</c:v>
                </c:pt>
                <c:pt idx="11">
                  <c:v>1053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2023</c:v>
                </c:pt>
              </c:strCache>
            </c:strRef>
          </c:tx>
          <c:spPr>
            <a:ln w="25400">
              <a:solidFill>
                <a:srgbClr val="B5EF4A"/>
              </a:solidFill>
            </a:ln>
          </c:spPr>
          <c:marker>
            <c:spPr>
              <a:solidFill>
                <a:srgbClr val="B5EF4A"/>
              </a:solidFill>
              <a:ln>
                <a:solidFill>
                  <a:srgbClr val="B5EF4A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977</c:v>
                </c:pt>
                <c:pt idx="2">
                  <c:v>528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($K)</c:v>
                </c:pt>
              </c:strCache>
            </c:strRef>
          </c:tx>
          <c:spPr>
            <a:solidFill>
              <a:srgbClr val="B5EF4A"/>
            </a:solidFill>
            <a:ln>
              <a:solidFill>
                <a:srgbClr val="B5EF4A"/>
              </a:solidFill>
            </a:ln>
          </c:spPr>
          <c:cat>
            <c:strRef>
              <c:f>Sheet1!$A$2:$A$11</c:f>
              <c:strCache>
                <c:ptCount val="10"/>
                <c:pt idx="0">
                  <c:v>96</c:v>
                </c:pt>
                <c:pt idx="1">
                  <c:v>29</c:v>
                </c:pt>
                <c:pt idx="2">
                  <c:v>34</c:v>
                </c:pt>
                <c:pt idx="3">
                  <c:v>31</c:v>
                </c:pt>
                <c:pt idx="4">
                  <c:v>51</c:v>
                </c:pt>
                <c:pt idx="5">
                  <c:v>64</c:v>
                </c:pt>
                <c:pt idx="6">
                  <c:v>47</c:v>
                </c:pt>
                <c:pt idx="7">
                  <c:v>79</c:v>
                </c:pt>
                <c:pt idx="8">
                  <c:v>41</c:v>
                </c:pt>
                <c:pt idx="9">
                  <c:v>28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178</c:v>
                </c:pt>
                <c:pt idx="1">
                  <c:v>187</c:v>
                </c:pt>
                <c:pt idx="2">
                  <c:v>184</c:v>
                </c:pt>
                <c:pt idx="3">
                  <c:v>197</c:v>
                </c:pt>
                <c:pt idx="4">
                  <c:v>197</c:v>
                </c:pt>
                <c:pt idx="5">
                  <c:v>203</c:v>
                </c:pt>
                <c:pt idx="6">
                  <c:v>206</c:v>
                </c:pt>
                <c:pt idx="7">
                  <c:v>209</c:v>
                </c:pt>
                <c:pt idx="8">
                  <c:v>214</c:v>
                </c:pt>
                <c:pt idx="9">
                  <c:v>248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45B4FF"/>
            </a:solidFill>
            <a:ln>
              <a:solidFill>
                <a:srgbClr val="45B4FF"/>
              </a:solidFill>
            </a:ln>
          </c:spPr>
          <c:cat>
            <c:strRef>
              <c:f>Sheet1!$A$2:$A$7</c:f>
              <c:strCache>
                <c:ptCount val="6"/>
                <c:pt idx="0">
                  <c:v>Alameda</c:v>
                </c:pt>
                <c:pt idx="1">
                  <c:v>Riverside</c:v>
                </c:pt>
                <c:pt idx="2">
                  <c:v>San Bernardino</c:v>
                </c:pt>
                <c:pt idx="3">
                  <c:v>San Diego</c:v>
                </c:pt>
                <c:pt idx="4">
                  <c:v>Orange</c:v>
                </c:pt>
                <c:pt idx="5">
                  <c:v>Los Angeles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1.46</c:v>
                </c:pt>
                <c:pt idx="1">
                  <c:v>2.08</c:v>
                </c:pt>
                <c:pt idx="2">
                  <c:v>2.41</c:v>
                </c:pt>
                <c:pt idx="3">
                  <c:v>2.46</c:v>
                </c:pt>
                <c:pt idx="4">
                  <c:v>2.6</c:v>
                </c:pt>
                <c:pt idx="5">
                  <c:v>5.63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$M</c:v>
                </c:pt>
              </c:strCache>
            </c:strRef>
          </c:tx>
          <c:spPr>
            <a:solidFill>
              <a:srgbClr val="FF4F92"/>
            </a:solidFill>
            <a:ln>
              <a:solidFill>
                <a:srgbClr val="FF4F92"/>
              </a:solidFill>
            </a:ln>
          </c:spPr>
          <c:cat>
            <c:strRef>
              <c:f>Sheet1!$A$2:$A$4</c:f>
              <c:strCache>
                <c:ptCount val="3"/>
                <c:pt idx="0">
                  <c:v>Budget</c:v>
                </c:pt>
                <c:pt idx="1">
                  <c:v>2021 actual</c:v>
                </c:pt>
                <c:pt idx="2">
                  <c:v>2022 actual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3.21</c:v>
                </c:pt>
                <c:pt idx="1">
                  <c:v>11.69</c:v>
                </c:pt>
                <c:pt idx="2">
                  <c:v>11.57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41080" y="0"/>
            <a:ext cx="3566160" cy="6858000"/>
          </a:xfrm>
          <a:prstGeom prst="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81160" y="685800"/>
            <a:ext cx="2194560" cy="109728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1160" y="1005840"/>
            <a:ext cx="1371600" cy="109728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EF4A"/>
                </a:solidFill>
                <a:latin typeface="Aptos"/>
              </a:rPr>
              <a:t>POWER BI /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6FA"/>
                </a:solidFill>
                <a:latin typeface="Aptos"/>
              </a:rPr>
              <a:t>RETAIL
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6324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4A9B8"/>
                </a:solidFill>
                <a:latin typeface="Aptos"/>
              </a:rPr>
              <a:t>From transactions to management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6FA"/>
                </a:solidFill>
                <a:latin typeface="Aptos"/>
              </a:rPr>
              <a:t>Sales • Profit • Customers • Markets • Budget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43400"/>
            <a:ext cx="68580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7365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4A9B8"/>
                </a:solidFill>
                <a:latin typeface="Aptos"/>
              </a:rPr>
              <a:t>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0109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5EF4A"/>
                </a:solidFill>
                <a:latin typeface="Aptos"/>
              </a:rPr>
              <a:t>ASHOK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424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10,889 orders   |   Jan 2021 – Mar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9659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B5EF4A"/>
                </a:solidFill>
                <a:latin typeface="Aptos"/>
              </a:rPr>
              <a:t>$25.66M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700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4A9B8"/>
                </a:solidFill>
                <a:latin typeface="Aptos"/>
              </a:rPr>
              <a:t>TOTAL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6576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8E5CF6"/>
                </a:solidFill>
                <a:latin typeface="Aptos"/>
              </a:rPr>
              <a:t>32.5%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36168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4A9B8"/>
                </a:solidFill>
                <a:latin typeface="Aptos"/>
              </a:rPr>
              <a:t>GROSS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EF4A"/>
                </a:solidFill>
                <a:latin typeface="Aptos"/>
              </a:rPr>
              <a:t>01 /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What the dashboard is built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4A9B8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EF4A"/>
                </a:solidFill>
                <a:latin typeface="Aptos"/>
              </a:rPr>
              <a:t>Instead of starting with charts, start with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337560" cy="182880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45720" cy="1828800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221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87752"/>
            <a:ext cx="3017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Where is money coming from — by product, customer and market?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057400"/>
            <a:ext cx="3337560" cy="182880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2057400"/>
            <a:ext cx="45720" cy="1828800"/>
          </a:xfrm>
          <a:prstGeom prst="rect">
            <a:avLst/>
          </a:prstGeom>
          <a:solidFill>
            <a:srgbClr val="FF4F92"/>
          </a:solidFill>
          <a:ln>
            <a:solidFill>
              <a:srgbClr val="FF4F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87752"/>
            <a:ext cx="3017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Which high-volume products are not translating sales into profit?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57400"/>
            <a:ext cx="3337560" cy="182880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2057400"/>
            <a:ext cx="45720" cy="1828800"/>
          </a:xfrm>
          <a:prstGeom prst="rect">
            <a:avLst/>
          </a:prstGeom>
          <a:solidFill>
            <a:srgbClr val="45B4FF"/>
          </a:solidFill>
          <a:ln>
            <a:solidFill>
              <a:srgbClr val="45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2221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MOMENTUM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587752"/>
            <a:ext cx="30175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Which months, markets and people show meaningful movement?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4251960"/>
            <a:ext cx="3337560" cy="160020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3160" y="4251960"/>
            <a:ext cx="45720" cy="1600200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4416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782312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Can the recorded plan be trusted enough for performance tracking?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4251960"/>
            <a:ext cx="3337560" cy="160020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4251960"/>
            <a:ext cx="45720" cy="1600200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416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782312"/>
            <a:ext cx="301752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Is revenue concentrated in a small set of buyers?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EF4A"/>
                </a:solidFill>
                <a:latin typeface="Aptos"/>
              </a:rPr>
              <a:t>02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One reporting layer from nine source 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4A9B8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148840" cy="1078992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4864" cy="1078992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6FA"/>
                </a:solidFill>
                <a:latin typeface="Aptos"/>
              </a:rPr>
              <a:t>10,889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671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SALES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508760"/>
            <a:ext cx="2148840" cy="1078992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508760"/>
            <a:ext cx="54864" cy="1078992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167335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6FA"/>
                </a:solidFill>
                <a:latin typeface="Aptos"/>
              </a:rP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1671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2148840" cy="1078992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1508760"/>
            <a:ext cx="54864" cy="1078992"/>
          </a:xfrm>
          <a:prstGeom prst="rect">
            <a:avLst/>
          </a:prstGeom>
          <a:solidFill>
            <a:srgbClr val="45B4FF"/>
          </a:solidFill>
          <a:ln>
            <a:solidFill>
              <a:srgbClr val="45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167335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6FA"/>
                </a:solidFill>
                <a:latin typeface="Aptos"/>
              </a:rPr>
              <a:t>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21671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LOCATIONS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508760"/>
            <a:ext cx="2148840" cy="1078992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508760"/>
            <a:ext cx="54864" cy="1078992"/>
          </a:xfrm>
          <a:prstGeom prst="rect">
            <a:avLst/>
          </a:prstGeom>
          <a:solidFill>
            <a:srgbClr val="FF4F92"/>
          </a:solidFill>
          <a:ln>
            <a:solidFill>
              <a:srgbClr val="FF4F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167335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6FA"/>
                </a:solidFill>
                <a:latin typeface="Aptos"/>
              </a:rPr>
              <a:t>509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1671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BUYERS WITH SALES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508760"/>
            <a:ext cx="1600200" cy="1078992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66960" y="1508760"/>
            <a:ext cx="54864" cy="1078992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68128" y="1673351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6FA"/>
                </a:solidFill>
                <a:latin typeface="Aptos"/>
              </a:rPr>
              <a:t>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8128" y="2167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SALESPEOPLE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971800"/>
            <a:ext cx="5257800" cy="23317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2971800"/>
            <a:ext cx="45720" cy="2331720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1363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POWER 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502152"/>
            <a:ext cx="4937760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Imported and profiled nine sheets → appended 2021–2023 sales → standardized fields → removed unused budget columns → created sales, cost and profit measures.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971800"/>
            <a:ext cx="5074920" cy="23317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971800"/>
            <a:ext cx="45720" cy="2331720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1363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DATA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502152"/>
            <a:ext cx="4754880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No duplicate order IDs or missing sales records. 2023 ends on March 15, so year-over-year comparisons must use a like-for-like period.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EF4A"/>
                </a:solidFill>
                <a:latin typeface="Aptos"/>
              </a:rPr>
              <a:t>03 /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The data model is a hub-and-spoke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4A9B8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2331720"/>
            <a:ext cx="2926080" cy="1325880"/>
          </a:xfrm>
          <a:prstGeom prst="round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92040" y="2542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6FA"/>
                </a:solidFill>
                <a:latin typeface="Aptos"/>
              </a:rPr>
              <a:t>FACT_SALES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2944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F6FA"/>
                </a:solidFill>
                <a:latin typeface="Aptos"/>
              </a:rPr>
              <a:t>Qty • Price • Order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08760"/>
            <a:ext cx="2743200" cy="86868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64591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EF4A"/>
                </a:solidFill>
                <a:latin typeface="Aptos"/>
              </a:rPr>
              <a:t>Dim_Product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9659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A9B8"/>
                </a:solidFill>
                <a:latin typeface="Aptos"/>
              </a:rPr>
              <a:t>Product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94760"/>
            <a:ext cx="2743200" cy="86868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931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F92"/>
                </a:solidFill>
                <a:latin typeface="Aptos"/>
              </a:rPr>
              <a:t>Dim_Customer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2519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A9B8"/>
                </a:solidFill>
                <a:latin typeface="Aptos"/>
              </a:rPr>
              <a:t>Customer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508760"/>
            <a:ext cx="2743200" cy="86868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164591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5B4FF"/>
                </a:solidFill>
                <a:latin typeface="Aptos"/>
              </a:rPr>
              <a:t>Dim_Location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19659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A9B8"/>
                </a:solidFill>
                <a:latin typeface="Aptos"/>
              </a:rPr>
              <a:t>Location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3794760"/>
            <a:ext cx="2743200" cy="86868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39319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E5CF6"/>
                </a:solidFill>
                <a:latin typeface="Aptos"/>
              </a:rPr>
              <a:t>Dim_Salesperson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42519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A9B8"/>
                </a:solidFill>
                <a:latin typeface="Aptos"/>
              </a:rPr>
              <a:t>Salesperson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4800600"/>
            <a:ext cx="2743200" cy="86868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4937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EF4A"/>
                </a:solidFill>
                <a:latin typeface="Aptos"/>
              </a:rPr>
              <a:t>Dim_Date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525780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A9B8"/>
                </a:solidFill>
                <a:latin typeface="Aptos"/>
              </a:rPr>
              <a:t>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4A9B8"/>
                </a:solidFill>
                <a:latin typeface="Aptos"/>
              </a:rPr>
              <a:t>One-to-many filters flow from dimensions into the fact table. Dim_Date controls time calculations; budget is linked through Location 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EF4A"/>
                </a:solidFill>
                <a:latin typeface="Aptos"/>
              </a:rPr>
              <a:t>04 /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DAX turns rows into reusable business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4A9B8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66360" cy="16459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4864" cy="1645920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E5CF6"/>
                </a:solidFill>
                <a:latin typeface="Aptos"/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39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6FA"/>
                </a:solidFill>
                <a:latin typeface="Aptos"/>
              </a:rPr>
              <a:t>Total Sales = SUMX(Fact_Sales, Qty * Price)
AOV = Total Sales / Total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166360" cy="16459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864" cy="1645920"/>
          </a:xfrm>
          <a:prstGeom prst="rect">
            <a:avLst/>
          </a:prstGeom>
          <a:solidFill>
            <a:srgbClr val="45B4FF"/>
          </a:solidFill>
          <a:ln>
            <a:solidFill>
              <a:srgbClr val="45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09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5B4FF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39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6FA"/>
                </a:solidFill>
                <a:latin typeface="Aptos"/>
              </a:rPr>
              <a:t>YTD Sales = TOTALYTD(...)
PY Sales = SAMEPERIODLASTYEAR(...)
YoY % = Current / Prior − 1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166360" cy="16459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4864" cy="1645920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5EF4A"/>
                </a:solidFill>
                <a:latin typeface="Aptos"/>
              </a:rPr>
              <a:t>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6FA"/>
                </a:solidFill>
                <a:latin typeface="Aptos"/>
              </a:rPr>
              <a:t>Variance = Sales − Budget
Achievement % = Sales / Budget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566160"/>
            <a:ext cx="5166360" cy="16459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566160"/>
            <a:ext cx="54864" cy="1645920"/>
          </a:xfrm>
          <a:prstGeom prst="rect">
            <a:avLst/>
          </a:prstGeom>
          <a:solidFill>
            <a:srgbClr val="FF4F92"/>
          </a:solidFill>
          <a:ln>
            <a:solidFill>
              <a:srgbClr val="FF4F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767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F92"/>
                </a:solidFill>
                <a:latin typeface="Aptos"/>
              </a:rPr>
              <a:t>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40"/>
            <a:ext cx="4526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F6FA"/>
                </a:solidFill>
                <a:latin typeface="Aptos"/>
              </a:rPr>
              <a:t>Rank = RANKX(ALL(Dim_Product), [Total Sales])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4A9B8"/>
                </a:solidFill>
                <a:latin typeface="Aptos"/>
              </a:rPr>
              <a:t>Calculated columns store row-level values; measures stay responsive to slicers and filters.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EF4A"/>
                </a:solidFill>
                <a:latin typeface="Aptos"/>
              </a:rPr>
              <a:t>05 /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The business is profitable — but not accelerating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4A9B8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103120" cy="1078992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" cy="1078992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6FA"/>
                </a:solidFill>
                <a:latin typeface="Aptos"/>
              </a:rPr>
              <a:t>$25.66M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21408"/>
            <a:ext cx="1783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TOTAL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63040"/>
            <a:ext cx="2103120" cy="1078992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463040"/>
            <a:ext cx="54864" cy="1078992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627632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6FA"/>
                </a:solidFill>
                <a:latin typeface="Aptos"/>
              </a:rPr>
              <a:t>$8.34M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121408"/>
            <a:ext cx="1783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GROSS PROFIT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463040"/>
            <a:ext cx="2103120" cy="1078992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463040"/>
            <a:ext cx="54864" cy="1078992"/>
          </a:xfrm>
          <a:prstGeom prst="rect">
            <a:avLst/>
          </a:prstGeom>
          <a:solidFill>
            <a:srgbClr val="FF4F92"/>
          </a:solidFill>
          <a:ln>
            <a:solidFill>
              <a:srgbClr val="FF4F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1627632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6FA"/>
                </a:solidFill>
                <a:latin typeface="Aptos"/>
              </a:rPr>
              <a:t>32.5%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121408"/>
            <a:ext cx="1783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GROSS MARGIN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463040"/>
            <a:ext cx="2103120" cy="1078992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463040"/>
            <a:ext cx="54864" cy="1078992"/>
          </a:xfrm>
          <a:prstGeom prst="rect">
            <a:avLst/>
          </a:prstGeom>
          <a:solidFill>
            <a:srgbClr val="45B4FF"/>
          </a:solidFill>
          <a:ln>
            <a:solidFill>
              <a:srgbClr val="45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1627632"/>
            <a:ext cx="1783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6FA"/>
                </a:solidFill>
                <a:latin typeface="Aptos"/>
              </a:rPr>
              <a:t>10,889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121408"/>
            <a:ext cx="1783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ORDERS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463040"/>
            <a:ext cx="1783080" cy="1078992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84080" y="1463040"/>
            <a:ext cx="54864" cy="1078992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5248" y="16276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5F6FA"/>
                </a:solidFill>
                <a:latin typeface="Aptos"/>
              </a:rPr>
              <a:t>$2,357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1214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AVG ORDER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85800" y="3063240"/>
          <a:ext cx="658368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635240" y="3246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A9B8"/>
                </a:solidFill>
                <a:latin typeface="Aptos"/>
              </a:rPr>
              <a:t>*2023 includes data only through March 15.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703320"/>
            <a:ext cx="3611880" cy="173736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3703320"/>
            <a:ext cx="45720" cy="1737360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386791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LIKE-FOR-LIKE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19" y="4233672"/>
            <a:ext cx="32918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Jan 1–Mar 15 sales: 2021 $2.47M • 2022 $2.32M • 2023 $2.40M.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EF4A"/>
                </a:solidFill>
                <a:latin typeface="Aptos"/>
              </a:rPr>
              <a:t>06 / SEASONALITY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Monthly movement matters more than 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4A9B8"/>
                </a:solidFill>
                <a:latin typeface="Aptos"/>
              </a:rPr>
              <a:t>07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08760"/>
          <a:ext cx="74066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645920"/>
            <a:ext cx="2926080" cy="132588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66760" y="1645920"/>
            <a:ext cx="45720" cy="1325880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1051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STRONG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176272"/>
            <a:ext cx="26060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November, December and June.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154680"/>
            <a:ext cx="2926080" cy="132588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66760" y="3154680"/>
            <a:ext cx="45720" cy="1325880"/>
          </a:xfrm>
          <a:prstGeom prst="rect">
            <a:avLst/>
          </a:prstGeom>
          <a:solidFill>
            <a:srgbClr val="FF4F92"/>
          </a:solidFill>
          <a:ln>
            <a:solidFill>
              <a:srgbClr val="FF4F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33192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SOFTER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685032"/>
            <a:ext cx="26060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July and August show the recurring dip.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663440"/>
            <a:ext cx="2926080" cy="132588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4663440"/>
            <a:ext cx="45720" cy="1325880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828031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Q4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193792"/>
            <a:ext cx="26060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Q4 2022 reached $3.07M.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EF4A"/>
                </a:solidFill>
                <a:latin typeface="Aptos"/>
              </a:rPr>
              <a:t>07 / PRODUCT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Volume and profit tell different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4A9B8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4A9B8"/>
                </a:solidFill>
                <a:latin typeface="Aptos"/>
              </a:rPr>
              <a:t>REVENUE LEADER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6FA"/>
                </a:solidFill>
                <a:latin typeface="Aptos"/>
              </a:rPr>
              <a:t>Product 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5EF4A"/>
                </a:solidFill>
                <a:latin typeface="Aptos"/>
              </a:rPr>
              <a:t>$628K sales  •  28%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463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4A9B8"/>
                </a:solidFill>
                <a:latin typeface="Aptos"/>
              </a:rPr>
              <a:t>PROFIT LEADER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6FA"/>
                </a:solidFill>
                <a:latin typeface="Aptos"/>
              </a:rPr>
              <a:t>Product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E5CF6"/>
                </a:solidFill>
                <a:latin typeface="Aptos"/>
              </a:rPr>
              <a:t>$248K profit  •  41%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463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4A9B8"/>
                </a:solidFill>
                <a:latin typeface="Aptos"/>
              </a:rPr>
              <a:t>LOW-MARGIN WATCHLIST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6FA"/>
                </a:solidFill>
                <a:latin typeface="Aptos"/>
              </a:rPr>
              <a:t>84 / 66 /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331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F92"/>
                </a:solidFill>
                <a:latin typeface="Aptos"/>
              </a:rPr>
              <a:t>17% / 18% / 15% margin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85800" y="2971800"/>
          <a:ext cx="713232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183879" y="3154680"/>
            <a:ext cx="3063240" cy="205740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3154680"/>
            <a:ext cx="45720" cy="2057400"/>
          </a:xfrm>
          <a:prstGeom prst="rect">
            <a:avLst/>
          </a:prstGeom>
          <a:solidFill>
            <a:srgbClr val="45B4FF"/>
          </a:solidFill>
          <a:ln>
            <a:solidFill>
              <a:srgbClr val="45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3319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CUSTOMER MIX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685032"/>
            <a:ext cx="27432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Top 10 customers = 5.4% of sales. About 155 active buyers account for roughly half of revenue.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EF4A"/>
                </a:solidFill>
                <a:latin typeface="Aptos"/>
              </a:rPr>
              <a:t>08 / MARKET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Size of a market is not the same as sales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4A9B8"/>
                </a:solidFill>
                <a:latin typeface="Aptos"/>
              </a:rPr>
              <a:t>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6035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86600" y="1554480"/>
            <a:ext cx="4160520" cy="155448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86600" y="1554480"/>
            <a:ext cx="45720" cy="1554480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719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POPULATION ≠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084831"/>
            <a:ext cx="3840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Correlation between sales and population is only 0.07. Los Angeles has ~3.97M residents but lower sales per 1,000 residents than Fresno.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3337560"/>
            <a:ext cx="4160520" cy="14173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86600" y="3337560"/>
            <a:ext cx="45720" cy="1417320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5021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TEAM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3867911"/>
            <a:ext cx="3840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45 salespeople operate within a relatively tight 31–34% margin range.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4983480"/>
            <a:ext cx="4160520" cy="9601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4983480"/>
            <a:ext cx="45720" cy="960120"/>
          </a:xfrm>
          <a:prstGeom prst="rect">
            <a:avLst/>
          </a:prstGeom>
          <a:solidFill>
            <a:srgbClr val="FF4F92"/>
          </a:solidFill>
          <a:ln>
            <a:solidFill>
              <a:srgbClr val="FF4F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5148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TOP INDIVIDUALS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51383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Kenneth Bradley: $679K sales / $227K profit. Ryan Welch: 273 orders.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EF4A"/>
                </a:solidFill>
                <a:latin typeface="Aptos"/>
              </a:rPr>
              <a:t>09 /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The budget needs a data-quality gate before it becomes a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4A9B8"/>
                </a:solidFill>
                <a:latin typeface="Aptos"/>
              </a:rPr>
              <a:t>10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08760"/>
          <a:ext cx="53035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09360" y="1508760"/>
            <a:ext cx="4937760" cy="14173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508760"/>
            <a:ext cx="45720" cy="1417320"/>
          </a:xfrm>
          <a:prstGeom prst="rect">
            <a:avLst/>
          </a:prstGeom>
          <a:solidFill>
            <a:srgbClr val="FF4F92"/>
          </a:solidFill>
          <a:ln>
            <a:solidFill>
              <a:srgbClr val="FF4F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73351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WHAT THE MODEL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39112"/>
            <a:ext cx="46177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Actual sales are roughly 3.6× the recorded budget overall. Location achievement ranges from about 1.7× to 8.5×.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154680"/>
            <a:ext cx="4937760" cy="14173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3154680"/>
            <a:ext cx="45720" cy="1417320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319272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WHY TO PAUSE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85032"/>
            <a:ext cx="46177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Budget location names do not reconcile with the location dimension; 23 budget locations have no corresponding sales.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800600"/>
            <a:ext cx="4937760" cy="114300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4800600"/>
            <a:ext cx="45720" cy="1143000"/>
          </a:xfrm>
          <a:prstGeom prst="rect">
            <a:avLst/>
          </a:prstGeom>
          <a:solidFill>
            <a:srgbClr val="B5EF4A"/>
          </a:solidFill>
          <a:ln>
            <a:solidFill>
              <a:srgbClr val="B5E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965192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NEXT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330952"/>
            <a:ext cx="4617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A9B8"/>
                </a:solidFill>
                <a:latin typeface="Aptos"/>
              </a:rPr>
              <a:t>Validate budget scale and location mapping before using achievement % in performance reviews.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5EF4A"/>
                </a:solidFill>
                <a:latin typeface="Aptos"/>
              </a:rPr>
              <a:t>10 /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Three priorities to take from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4A9B8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11887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4F9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PROTECT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81912"/>
            <a:ext cx="6355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4A9B8"/>
                </a:solidFill>
                <a:latin typeface="Aptos"/>
              </a:rPr>
              <a:t>Review pricing and cost structure for Products 84, 66 and 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10881360" cy="11887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E5CF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FIX THE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090672"/>
            <a:ext cx="6355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4A9B8"/>
                </a:solidFill>
                <a:latin typeface="Aptos"/>
              </a:rPr>
              <a:t>Reconcile budget scale and location mapping before publishing achievement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10881360" cy="1188720"/>
          </a:xfrm>
          <a:prstGeom prst="roundRect">
            <a:avLst/>
          </a:prstGeom>
          <a:solidFill>
            <a:srgbClr val="1B1D27"/>
          </a:solidFill>
          <a:ln>
            <a:solidFill>
              <a:srgbClr val="1B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5EF4A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6FA"/>
                </a:solidFill>
                <a:latin typeface="Aptos"/>
              </a:rPr>
              <a:t>CREATE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599431"/>
            <a:ext cx="6355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4A9B8"/>
                </a:solidFill>
                <a:latin typeface="Aptos"/>
              </a:rPr>
              <a:t>Use July–August promotions, customer reactivation and targeted market campaigns.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89320"/>
            <a:ext cx="10881360" cy="45720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6FA"/>
                </a:solidFill>
                <a:latin typeface="Aptos"/>
              </a:rPr>
              <a:t>BOTTOM LINE  /  Stable margin + broad customer base + flat growth = improve the quality of growth, not just the quantity.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4A9B8"/>
                </a:solidFill>
                <a:latin typeface="Aptos"/>
              </a:rPr>
              <a:t>ASHOK  /  RETAIL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6547104"/>
            <a:ext cx="1600200" cy="32004"/>
          </a:xfrm>
          <a:prstGeom prst="rect">
            <a:avLst/>
          </a:prstGeom>
          <a:solidFill>
            <a:srgbClr val="8E5CF6"/>
          </a:solidFill>
          <a:ln>
            <a:solidFill>
              <a:srgbClr val="8E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