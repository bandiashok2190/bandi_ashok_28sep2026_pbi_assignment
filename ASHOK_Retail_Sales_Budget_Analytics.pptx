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1" d="100"/>
          <a:sy n="151" d="100"/>
        </p:scale>
        <p:origin x="108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03A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2203A"/>
                </a:solidFill>
                <a:latin typeface="Calibri"/>
              </a:rPr>
              <a:t>Sales by year ($M)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 ($M)</c:v>
                </c:pt>
              </c:strCache>
            </c:strRef>
          </c:tx>
          <c:spPr>
            <a:solidFill>
              <a:srgbClr val="0B6E4F"/>
            </a:solidFill>
            <a:ln>
              <a:solidFill>
                <a:srgbClr val="0B6E4F"/>
              </a:solidFill>
            </a:ln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2021</c:v>
                </c:pt>
                <c:pt idx="1">
                  <c:v>2022</c:v>
                </c:pt>
                <c:pt idx="2">
                  <c:v>2023 (to Mar 15)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11.69</c:v>
                </c:pt>
                <c:pt idx="1">
                  <c:v>11.57</c:v>
                </c:pt>
                <c:pt idx="2">
                  <c:v>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68D-47F3-B5B6-B289D17B2CF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67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03A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2203A"/>
                </a:solidFill>
                <a:latin typeface="Calibri"/>
              </a:rPr>
              <a:t>Monthly sales ($K)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0B6E4F"/>
            </a:solidFill>
            <a:ln w="31750" cap="flat">
              <a:solidFill>
                <a:srgbClr val="0B6E4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5A6675"/>
              </a:solidFill>
              <a:ln w="9525" cap="flat">
                <a:solidFill>
                  <a:srgbClr val="5A6675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1025</c:v>
                </c:pt>
                <c:pt idx="1">
                  <c:v>990</c:v>
                </c:pt>
                <c:pt idx="2">
                  <c:v>917</c:v>
                </c:pt>
                <c:pt idx="3">
                  <c:v>954</c:v>
                </c:pt>
                <c:pt idx="4">
                  <c:v>1011</c:v>
                </c:pt>
                <c:pt idx="5">
                  <c:v>1050</c:v>
                </c:pt>
                <c:pt idx="6">
                  <c:v>893</c:v>
                </c:pt>
                <c:pt idx="7">
                  <c:v>923</c:v>
                </c:pt>
                <c:pt idx="8">
                  <c:v>993</c:v>
                </c:pt>
                <c:pt idx="9">
                  <c:v>917</c:v>
                </c:pt>
                <c:pt idx="10">
                  <c:v>1019</c:v>
                </c:pt>
                <c:pt idx="11">
                  <c:v>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3AE-4519-8DAC-07DC67C236E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0B6E4F"/>
            </a:solidFill>
            <a:ln w="31750" cap="flat">
              <a:solidFill>
                <a:srgbClr val="0B6E4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39A8E"/>
              </a:solidFill>
              <a:ln w="9525" cap="flat">
                <a:solidFill>
                  <a:srgbClr val="139A8E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945</c:v>
                </c:pt>
                <c:pt idx="1">
                  <c:v>913</c:v>
                </c:pt>
                <c:pt idx="2">
                  <c:v>984</c:v>
                </c:pt>
                <c:pt idx="3">
                  <c:v>985</c:v>
                </c:pt>
                <c:pt idx="4">
                  <c:v>866</c:v>
                </c:pt>
                <c:pt idx="5">
                  <c:v>1017</c:v>
                </c:pt>
                <c:pt idx="6">
                  <c:v>938</c:v>
                </c:pt>
                <c:pt idx="7">
                  <c:v>888</c:v>
                </c:pt>
                <c:pt idx="8">
                  <c:v>960</c:v>
                </c:pt>
                <c:pt idx="9">
                  <c:v>982</c:v>
                </c:pt>
                <c:pt idx="10">
                  <c:v>1035</c:v>
                </c:pt>
                <c:pt idx="11">
                  <c:v>1053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3AE-4519-8DAC-07DC67C236E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0B6E4F"/>
            </a:solidFill>
            <a:ln w="31750" cap="flat">
              <a:solidFill>
                <a:srgbClr val="0B6E4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F2A413"/>
              </a:solidFill>
              <a:ln w="9525" cap="flat">
                <a:solidFill>
                  <a:srgbClr val="F2A413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900</c:v>
                </c:pt>
                <c:pt idx="1">
                  <c:v>977</c:v>
                </c:pt>
                <c:pt idx="2">
                  <c:v>528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3AE-4519-8DAC-07DC67C236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67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0"/>
          <c:min val="400"/>
        </c:scaling>
        <c:delete val="0"/>
        <c:axPos val="l"/>
        <c:majorGridlines>
          <c:spPr>
            <a:ln w="6350" cap="flat">
              <a:solidFill>
                <a:srgbClr val="E3E8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67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A6675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03A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2203A"/>
                </a:solidFill>
                <a:latin typeface="Calibri"/>
              </a:rPr>
              <a:t>Top 10 products by gross profit ($K)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profit ($K)</c:v>
                </c:pt>
              </c:strCache>
            </c:strRef>
          </c:tx>
          <c:spPr>
            <a:solidFill>
              <a:srgbClr val="0B6E4F"/>
            </a:solidFill>
            <a:ln>
              <a:solidFill>
                <a:srgbClr val="0B6E4F"/>
              </a:solidFill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Product 96</c:v>
                </c:pt>
                <c:pt idx="1">
                  <c:v>Product 29</c:v>
                </c:pt>
                <c:pt idx="2">
                  <c:v>Product 34</c:v>
                </c:pt>
                <c:pt idx="3">
                  <c:v>Product 31</c:v>
                </c:pt>
                <c:pt idx="4">
                  <c:v>Product 51</c:v>
                </c:pt>
                <c:pt idx="5">
                  <c:v>Product 64</c:v>
                </c:pt>
                <c:pt idx="6">
                  <c:v>Product 47</c:v>
                </c:pt>
                <c:pt idx="7">
                  <c:v>Product 79</c:v>
                </c:pt>
                <c:pt idx="8">
                  <c:v>Product 41</c:v>
                </c:pt>
                <c:pt idx="9">
                  <c:v>Product 28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178</c:v>
                </c:pt>
                <c:pt idx="1">
                  <c:v>187</c:v>
                </c:pt>
                <c:pt idx="2">
                  <c:v>184</c:v>
                </c:pt>
                <c:pt idx="3">
                  <c:v>197</c:v>
                </c:pt>
                <c:pt idx="4">
                  <c:v>197</c:v>
                </c:pt>
                <c:pt idx="5">
                  <c:v>203</c:v>
                </c:pt>
                <c:pt idx="6">
                  <c:v>206</c:v>
                </c:pt>
                <c:pt idx="7">
                  <c:v>209</c:v>
                </c:pt>
                <c:pt idx="8">
                  <c:v>214</c:v>
                </c:pt>
                <c:pt idx="9">
                  <c:v>248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7E4-4791-8FD4-2B27C038BC0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67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03A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2203A"/>
                </a:solidFill>
                <a:latin typeface="Calibri"/>
              </a:rPr>
              <a:t>Sales by county, top 6 ($M)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 ($M)</c:v>
                </c:pt>
              </c:strCache>
            </c:strRef>
          </c:tx>
          <c:spPr>
            <a:solidFill>
              <a:srgbClr val="0B6E4F"/>
            </a:solidFill>
            <a:ln>
              <a:solidFill>
                <a:srgbClr val="0B6E4F"/>
              </a:solidFill>
            </a:ln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Alameda</c:v>
                </c:pt>
                <c:pt idx="1">
                  <c:v>Riverside</c:v>
                </c:pt>
                <c:pt idx="2">
                  <c:v>San Bernardino</c:v>
                </c:pt>
                <c:pt idx="3">
                  <c:v>San Diego</c:v>
                </c:pt>
                <c:pt idx="4">
                  <c:v>Orange</c:v>
                </c:pt>
                <c:pt idx="5">
                  <c:v>Los Angeles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1.46</c:v>
                </c:pt>
                <c:pt idx="1">
                  <c:v>2.08</c:v>
                </c:pt>
                <c:pt idx="2">
                  <c:v>2.41</c:v>
                </c:pt>
                <c:pt idx="3">
                  <c:v>2.46</c:v>
                </c:pt>
                <c:pt idx="4">
                  <c:v>2.6</c:v>
                </c:pt>
                <c:pt idx="5">
                  <c:v>5.63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4E4-41BF-9D72-227C99545EE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67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03A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2203A"/>
                </a:solidFill>
                <a:latin typeface="Calibri"/>
              </a:rPr>
              <a:t>Budget vs. actual, 74 locations ($M)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$M</c:v>
                </c:pt>
              </c:strCache>
            </c:strRef>
          </c:tx>
          <c:spPr>
            <a:solidFill>
              <a:srgbClr val="0B6E4F"/>
            </a:solidFill>
            <a:ln>
              <a:solidFill>
                <a:srgbClr val="0B6E4F"/>
              </a:solidFill>
            </a:ln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Annual budget</c:v>
                </c:pt>
                <c:pt idx="1">
                  <c:v>2021 actual</c:v>
                </c:pt>
                <c:pt idx="2">
                  <c:v>2022 actual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3.21</c:v>
                </c:pt>
                <c:pt idx="1">
                  <c:v>11.69</c:v>
                </c:pt>
                <c:pt idx="2">
                  <c:v>11.57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AB6-4FA8-91A3-5DFCF8184A1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67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53771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7452360" y="-1417320"/>
            <a:ext cx="2926080" cy="2926080"/>
          </a:xfrm>
          <a:prstGeom prst="ellipse">
            <a:avLst/>
          </a:prstGeom>
          <a:solidFill>
            <a:srgbClr val="FFFFFF"/>
          </a:solidFill>
          <a:ln>
            <a:solidFill>
              <a:srgbClr val="0B6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452360" y="1051560"/>
            <a:ext cx="2926080" cy="2926080"/>
          </a:xfrm>
          <a:prstGeom prst="ellipse">
            <a:avLst/>
          </a:prstGeom>
          <a:solidFill>
            <a:srgbClr val="FFFFFF"/>
          </a:solidFill>
          <a:ln>
            <a:solidFill>
              <a:srgbClr val="0B6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FFFFF"/>
          </a:solidFill>
          <a:ln>
            <a:solidFill>
              <a:srgbClr val="0B6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7589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24313A"/>
                </a:solidFill>
                <a:latin typeface="Aptos"/>
              </a:rPr>
              <a:t>POWER BI  •  RETAIL 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78992"/>
            <a:ext cx="6949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4313A"/>
                </a:solidFill>
                <a:latin typeface="Aptos"/>
              </a:rPr>
              <a:t>Retail Sales &amp; Budget Analytics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395728"/>
            <a:ext cx="7040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24313A"/>
                </a:solidFill>
                <a:latin typeface="Aptos"/>
              </a:rPr>
              <a:t>A decision-focused view of revenue, margin, customers, products and budget quality.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01568"/>
            <a:ext cx="530352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0B6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75304"/>
            <a:ext cx="4663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24313A"/>
                </a:solidFill>
                <a:latin typeface="Aptos"/>
              </a:rPr>
              <a:t>PREPARED BY  ASHOK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931920"/>
            <a:ext cx="4663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24313A"/>
                </a:solidFill>
                <a:latin typeface="Aptos"/>
              </a:rPr>
              <a:t>10,889 orders  •  Jan 2021 – Mar 2023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590288"/>
            <a:ext cx="1627632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0B6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4690872"/>
            <a:ext cx="14081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26430"/>
                </a:solidFill>
                <a:latin typeface="Aptos"/>
              </a:rPr>
              <a:t>$25.66M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928616"/>
            <a:ext cx="140817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4313A"/>
                </a:solidFill>
                <a:latin typeface="Aptos"/>
              </a:rPr>
              <a:t>TOTAL SALES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87168" y="4590288"/>
            <a:ext cx="1627632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0B6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6896" y="4690872"/>
            <a:ext cx="14081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26430"/>
                </a:solidFill>
                <a:latin typeface="Aptos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96896" y="4928616"/>
            <a:ext cx="140817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4313A"/>
                </a:solidFill>
                <a:latin typeface="Aptos"/>
              </a:rPr>
              <a:t>PROFIT MARGIN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34256" y="4590288"/>
            <a:ext cx="1627632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0B6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43984" y="4690872"/>
            <a:ext cx="14081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26430"/>
                </a:solidFill>
                <a:latin typeface="Aptos"/>
              </a:rPr>
              <a:t>10,889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3984" y="4928616"/>
            <a:ext cx="140817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4313A"/>
                </a:solidFill>
                <a:latin typeface="Aptos"/>
              </a:rPr>
              <a:t>ORDERS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535424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4313A"/>
                </a:solidFill>
                <a:latin typeface="Aptos"/>
              </a:rPr>
              <a:t>BUSINESS
INTELLIGENCE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28600"/>
            <a:ext cx="1005840" cy="64008"/>
          </a:xfrm>
          <a:prstGeom prst="rect">
            <a:avLst/>
          </a:prstGeom>
          <a:solidFill>
            <a:srgbClr val="F26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77266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2600" b="1">
                <a:solidFill>
                  <a:srgbClr val="24313A"/>
                </a:solidFill>
                <a:latin typeface="Aptos"/>
              </a:rPr>
              <a:t>From raw transactions to management questions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>
                <a:solidFill>
                  <a:srgbClr val="24313A"/>
                </a:solidFill>
                <a:latin typeface="Aptos"/>
              </a:rPr>
              <a:t>Retail Sales &amp; Budget Analytics  |  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834640" cy="32918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5087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B6E4F"/>
                </a:solidFill>
                <a:latin typeface="Aptos"/>
              </a:rPr>
              <a:t>BUSINESS 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74520"/>
            <a:ext cx="2377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400">
                <a:solidFill>
                  <a:srgbClr val="24313A"/>
                </a:solidFill>
                <a:latin typeface="Aptos"/>
              </a:rPr>
              <a:t>Which products, customers, locations and sales patterns deserve management attention?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520440" y="128016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0B6E4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703320" y="140817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4313A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Sales visibility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719072"/>
            <a:ext cx="22402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400">
                <a:solidFill>
                  <a:srgbClr val="24313A"/>
                </a:solidFill>
                <a:latin typeface="Aptos"/>
              </a:rPr>
              <a:t>Bring three years of sales into one consistent reporting view.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28016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0B6E4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46520" y="140817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4313A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Product profitability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1719072"/>
            <a:ext cx="22402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400">
                <a:solidFill>
                  <a:srgbClr val="24313A"/>
                </a:solidFill>
                <a:latin typeface="Aptos"/>
              </a:rPr>
              <a:t>Separate high-volume products from products that actually protect margin.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520440" y="297180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0B6E4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3703320" y="309981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4313A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Customer behavior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703320" y="3410712"/>
            <a:ext cx="22402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400">
                <a:solidFill>
                  <a:srgbClr val="24313A"/>
                </a:solidFill>
                <a:latin typeface="Aptos"/>
              </a:rPr>
              <a:t>Understand concentration, inactive buyers and market penetration.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297180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0B6E4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446520" y="309981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4313A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Budget tracking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3410712"/>
            <a:ext cx="22402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400">
                <a:solidFill>
                  <a:srgbClr val="24313A"/>
                </a:solidFill>
                <a:latin typeface="Aptos"/>
              </a:rPr>
              <a:t>Compare actual sales with the available budget — after validating the budget data.</a:t>
            </a:r>
            <a:endParaRPr lang="en-US" sz="1150" dirty="0"/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FFFFF"/>
          </a:solidFill>
          <a:ln>
            <a:solidFill>
              <a:srgbClr val="0B6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6537960"/>
            <a:ext cx="11155680" cy="10972"/>
          </a:xfrm>
          <a:prstGeom prst="rect">
            <a:avLst/>
          </a:prstGeom>
          <a:solidFill>
            <a:srgbClr val="FFFFFF"/>
          </a:solidFill>
          <a:ln>
            <a:solidFill>
              <a:srgbClr val="0B6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FFFFFF"/>
          </a:solidFill>
          <a:ln>
            <a:solidFill>
              <a:srgbClr val="0B6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60" y="219456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24313A"/>
                </a:solidFill>
                <a:latin typeface="Aptos"/>
              </a:rPr>
              <a:t>02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228600"/>
            <a:ext cx="1005840" cy="64008"/>
          </a:xfrm>
          <a:prstGeom prst="rect">
            <a:avLst/>
          </a:prstGeom>
          <a:solidFill>
            <a:srgbClr val="F26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77266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2600" b="1">
                <a:solidFill>
                  <a:srgbClr val="24313A"/>
                </a:solidFill>
                <a:latin typeface="Aptos"/>
              </a:rPr>
              <a:t>Data preparation creates one reliable sales layer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>
                <a:solidFill>
                  <a:srgbClr val="24313A"/>
                </a:solidFill>
                <a:latin typeface="Aptos"/>
              </a:rPr>
              <a:t>Retail Sales &amp; Budget Analytics  |  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48132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457200" y="1362456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F26430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10,889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856232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4313A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sales transactions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048256" y="1234440"/>
            <a:ext cx="148132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2048256" y="1362456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4313A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101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2048256" y="1856232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4313A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39312" y="1234440"/>
            <a:ext cx="148132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3639312" y="1362456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4313A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74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3639312" y="1856232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4313A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locations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230368" y="1234440"/>
            <a:ext cx="148132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5230368" y="1362456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4313A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509 / 801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5230368" y="1856232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4313A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customers who bought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21424" y="1234440"/>
            <a:ext cx="148132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821424" y="1362456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4313A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6821424" y="1856232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4313A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salespeople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377440"/>
            <a:ext cx="402336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9525">
            <a:solidFill>
              <a:srgbClr val="0B6E4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40080" y="25054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B6E4F"/>
                </a:solidFill>
                <a:latin typeface="Aptos"/>
              </a:rPr>
              <a:t>POWER QUERY WORKFLOW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2834640"/>
            <a:ext cx="3657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400">
                <a:solidFill>
                  <a:srgbClr val="24313A"/>
                </a:solidFill>
                <a:latin typeface="Aptos"/>
              </a:rPr>
              <a:t>Loaded nine source sheets; checked types, nulls and keys</a:t>
            </a:r>
            <a:br/>
            <a:r>
              <a:rPr sz="1400">
                <a:solidFill>
                  <a:srgbClr val="24313A"/>
                </a:solidFill>
                <a:latin typeface="Aptos"/>
              </a:rPr>
              <a:t>Combined 2021–2023 sales into Fact_Sales</a:t>
            </a:r>
            <a:br/>
            <a:r>
              <a:rPr sz="1400">
                <a:solidFill>
                  <a:srgbClr val="24313A"/>
                </a:solidFill>
                <a:latin typeface="Aptos"/>
              </a:rPr>
              <a:t>Standardized labels and data types</a:t>
            </a:r>
            <a:br/>
            <a:r>
              <a:rPr sz="1400">
                <a:solidFill>
                  <a:srgbClr val="24313A"/>
                </a:solidFill>
                <a:latin typeface="Aptos"/>
              </a:rPr>
              <a:t>Removed unused budgeting fields</a:t>
            </a:r>
            <a:br/>
            <a:r>
              <a:rPr sz="1400">
                <a:solidFill>
                  <a:srgbClr val="24313A"/>
                </a:solidFill>
                <a:latin typeface="Aptos"/>
              </a:rPr>
              <a:t>Created sales, cost and profit fields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663440" y="2377440"/>
            <a:ext cx="402336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9525">
            <a:solidFill>
              <a:srgbClr val="0B6E4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4846320" y="25054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B6E4F"/>
                </a:solidFill>
                <a:latin typeface="Aptos"/>
              </a:rPr>
              <a:t>QUALITY CHECKS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846320" y="2834640"/>
            <a:ext cx="3657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400">
                <a:solidFill>
                  <a:srgbClr val="24313A"/>
                </a:solidFill>
                <a:latin typeface="Aptos"/>
              </a:rPr>
              <a:t>No duplicate order IDs and no missing sales records</a:t>
            </a:r>
            <a:br/>
            <a:r>
              <a:rPr sz="1400">
                <a:solidFill>
                  <a:srgbClr val="24313A"/>
                </a:solidFill>
                <a:latin typeface="Aptos"/>
              </a:rPr>
              <a:t>2023 contains data only through March 15</a:t>
            </a:r>
            <a:br/>
            <a:r>
              <a:rPr sz="1400">
                <a:solidFill>
                  <a:srgbClr val="24313A"/>
                </a:solidFill>
                <a:latin typeface="Aptos"/>
              </a:rPr>
              <a:t>All 74 locations are in California</a:t>
            </a:r>
            <a:br/>
            <a:r>
              <a:rPr sz="1400">
                <a:solidFill>
                  <a:srgbClr val="24313A"/>
                </a:solidFill>
                <a:latin typeface="Aptos"/>
              </a:rPr>
              <a:t>Budget location labels do not reconcile with the location dimension</a:t>
            </a:r>
            <a:endParaRPr lang="en-US" sz="1200" dirty="0"/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FFFFF"/>
          </a:solidFill>
          <a:ln>
            <a:solidFill>
              <a:srgbClr val="0B6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6537960"/>
            <a:ext cx="11155680" cy="10972"/>
          </a:xfrm>
          <a:prstGeom prst="rect">
            <a:avLst/>
          </a:prstGeom>
          <a:solidFill>
            <a:srgbClr val="FFFFFF"/>
          </a:solidFill>
          <a:ln>
            <a:solidFill>
              <a:srgbClr val="0B6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FFFFFF"/>
          </a:solidFill>
          <a:ln>
            <a:solidFill>
              <a:srgbClr val="0B6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66760" y="219456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24313A"/>
                </a:solidFill>
                <a:latin typeface="Aptos"/>
              </a:rPr>
              <a:t>03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228600"/>
            <a:ext cx="1005840" cy="64008"/>
          </a:xfrm>
          <a:prstGeom prst="rect">
            <a:avLst/>
          </a:prstGeom>
          <a:solidFill>
            <a:srgbClr val="F26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77266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2600" b="1">
                <a:solidFill>
                  <a:srgbClr val="24313A"/>
                </a:solidFill>
                <a:latin typeface="Aptos"/>
              </a:rPr>
              <a:t>A star schema keeps the model easy to filter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>
                <a:solidFill>
                  <a:srgbClr val="24313A"/>
                </a:solidFill>
                <a:latin typeface="Aptos"/>
              </a:rPr>
              <a:t>Retail Sales &amp; Budget Analytics  |  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645920" y="1645920"/>
            <a:ext cx="1554480" cy="1417320"/>
          </a:xfrm>
          <a:prstGeom prst="line">
            <a:avLst/>
          </a:prstGeom>
          <a:solidFill>
            <a:srgbClr val="FFFFFF"/>
          </a:solidFill>
          <a:ln w="19050">
            <a:solidFill>
              <a:srgbClr val="0B6E4F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V="1">
            <a:off x="3200400" y="1645920"/>
            <a:ext cx="1371600" cy="1417320"/>
          </a:xfrm>
          <a:prstGeom prst="line">
            <a:avLst/>
          </a:prstGeom>
          <a:solidFill>
            <a:srgbClr val="FFFFFF"/>
          </a:solidFill>
          <a:ln w="19050">
            <a:solidFill>
              <a:srgbClr val="0B6E4F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280160" y="3017520"/>
            <a:ext cx="1920240" cy="45720"/>
          </a:xfrm>
          <a:prstGeom prst="line">
            <a:avLst/>
          </a:prstGeom>
          <a:solidFill>
            <a:srgbClr val="FFFFFF"/>
          </a:solidFill>
          <a:ln w="19050">
            <a:solidFill>
              <a:srgbClr val="0B6E4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 flipV="1">
            <a:off x="3200400" y="3017520"/>
            <a:ext cx="1737360" cy="45720"/>
          </a:xfrm>
          <a:prstGeom prst="line">
            <a:avLst/>
          </a:prstGeom>
          <a:solidFill>
            <a:srgbClr val="FFFFFF"/>
          </a:solidFill>
          <a:ln w="19050">
            <a:solidFill>
              <a:srgbClr val="0B6E4F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3200400" y="3063240"/>
            <a:ext cx="91440" cy="1188720"/>
          </a:xfrm>
          <a:prstGeom prst="line">
            <a:avLst/>
          </a:prstGeom>
          <a:solidFill>
            <a:srgbClr val="FFFFFF"/>
          </a:solidFill>
          <a:ln w="19050">
            <a:solidFill>
              <a:srgbClr val="0B6E4F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132588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0B6E4F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822960" y="141732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4313A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Dim_Product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169164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4313A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Product ID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749040" y="132588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0B6E4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3749040" y="141732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4313A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Dim_Customer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749040" y="169164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4313A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Customer ID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69748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0B6E4F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457200" y="278892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4313A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Dim_Location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06324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4313A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Location ID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0" y="269748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0B6E4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4114800" y="278892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4313A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Dim_Salesperson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114800" y="306324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4313A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Salesperson ID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468880" y="393192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0B6E4F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2468880" y="40233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4313A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Dim_Date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2468880" y="429768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4313A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Date (marked)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377440" y="2697480"/>
            <a:ext cx="16459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0B6E4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2377440" y="2788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4313A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Fact_Sales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377440" y="31089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4313A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Qty · Price · Order Date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126480" y="1325880"/>
            <a:ext cx="256032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0B6E4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6309360" y="1463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B6E4F"/>
                </a:solidFill>
                <a:latin typeface="Aptos"/>
              </a:rPr>
              <a:t>MODEL NOTES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309360" y="1783080"/>
            <a:ext cx="2194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400">
                <a:solidFill>
                  <a:srgbClr val="24313A"/>
                </a:solidFill>
                <a:latin typeface="Aptos"/>
              </a:rPr>
              <a:t>Dimension tables filter the central fact table through one-to-many relationships.</a:t>
            </a:r>
            <a:br/>
            <a:r>
              <a:rPr sz="1400">
                <a:solidFill>
                  <a:srgbClr val="24313A"/>
                </a:solidFill>
                <a:latin typeface="Aptos"/>
              </a:rPr>
              <a:t>The date dimension is the official calendar and controls time calculations.</a:t>
            </a:r>
            <a:br/>
            <a:r>
              <a:rPr sz="1400">
                <a:solidFill>
                  <a:srgbClr val="24313A"/>
                </a:solidFill>
                <a:latin typeface="Aptos"/>
              </a:rPr>
              <a:t>Budget information is connected through Location ID.</a:t>
            </a:r>
            <a:endParaRPr lang="en-US" sz="1150" dirty="0"/>
          </a:p>
        </p:txBody>
      </p:sp>
      <p:sp>
        <p:nvSpPr>
          <p:cNvPr id="30" name="Rectangle 29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FFFFF"/>
          </a:solidFill>
          <a:ln>
            <a:solidFill>
              <a:srgbClr val="0B6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6537960"/>
            <a:ext cx="11155680" cy="10972"/>
          </a:xfrm>
          <a:prstGeom prst="rect">
            <a:avLst/>
          </a:prstGeom>
          <a:solidFill>
            <a:srgbClr val="FFFFFF"/>
          </a:solidFill>
          <a:ln>
            <a:solidFill>
              <a:srgbClr val="0B6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FFFFFF"/>
          </a:solidFill>
          <a:ln>
            <a:solidFill>
              <a:srgbClr val="0B6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66760" y="219456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24313A"/>
                </a:solidFill>
                <a:latin typeface="Aptos"/>
              </a:rPr>
              <a:t>04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228600"/>
            <a:ext cx="1005840" cy="64008"/>
          </a:xfrm>
          <a:prstGeom prst="rect">
            <a:avLst/>
          </a:prstGeom>
          <a:solidFill>
            <a:srgbClr val="F26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77266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2600" b="1">
                <a:solidFill>
                  <a:srgbClr val="24313A"/>
                </a:solidFill>
                <a:latin typeface="Aptos"/>
              </a:rPr>
              <a:t>DAX converts transactions into decision-ready measures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>
                <a:solidFill>
                  <a:srgbClr val="24313A"/>
                </a:solidFill>
                <a:latin typeface="Aptos"/>
              </a:rPr>
              <a:t>Retail Sales &amp; Budget Analytics  |  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51760" cy="27889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0B6E4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21792" y="135331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B6E4F"/>
                </a:solidFill>
                <a:latin typeface="Aptos"/>
              </a:rPr>
              <a:t>SALES &amp; MARGIN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691640"/>
            <a:ext cx="23774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700"/>
              </a:spcAft>
              <a:buNone/>
            </a:pPr>
            <a:r>
              <a:rPr lang="en-US" sz="1400" dirty="0">
                <a:solidFill>
                  <a:srgbClr val="24313A"/>
                </a:solidFill>
                <a:latin typeface="Aptos" pitchFamily="34" charset="0"/>
                <a:ea typeface="Courier New" pitchFamily="34" charset="-122"/>
                <a:cs typeface="Courier New" pitchFamily="34" charset="-120"/>
              </a:rPr>
              <a:t>Total Sales =</a:t>
            </a:r>
            <a:endParaRPr lang="en-US" sz="9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400" dirty="0">
                <a:solidFill>
                  <a:srgbClr val="24313A"/>
                </a:solidFill>
                <a:latin typeface="Aptos" pitchFamily="34" charset="0"/>
                <a:ea typeface="Courier New" pitchFamily="34" charset="-122"/>
                <a:cs typeface="Courier New" pitchFamily="34" charset="-120"/>
              </a:rPr>
              <a:t>SUMX(Fact_Sales, Qty * Price)</a:t>
            </a:r>
            <a:endParaRPr lang="en-US" sz="9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400" dirty="0">
                <a:solidFill>
                  <a:srgbClr val="24313A"/>
                </a:solidFill>
                <a:latin typeface="Aptos" pitchFamily="34" charset="0"/>
                <a:ea typeface="Courier New" pitchFamily="34" charset="-122"/>
                <a:cs typeface="Courier New" pitchFamily="34" charset="-120"/>
              </a:rPr>
              <a:t>Gross Margin % =</a:t>
            </a:r>
            <a:endParaRPr lang="en-US" sz="9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400" dirty="0">
                <a:solidFill>
                  <a:srgbClr val="24313A"/>
                </a:solidFill>
                <a:latin typeface="Aptos" pitchFamily="34" charset="0"/>
                <a:ea typeface="Courier New" pitchFamily="34" charset="-122"/>
                <a:cs typeface="Courier New" pitchFamily="34" charset="-120"/>
              </a:rPr>
              <a:t>DIVIDE([Gross Profit], [Total Sales])</a:t>
            </a:r>
            <a:endParaRPr lang="en-US" sz="9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400" dirty="0">
                <a:solidFill>
                  <a:srgbClr val="24313A"/>
                </a:solidFill>
                <a:latin typeface="Aptos" pitchFamily="34" charset="0"/>
                <a:ea typeface="Courier New" pitchFamily="34" charset="-122"/>
                <a:cs typeface="Courier New" pitchFamily="34" charset="-120"/>
              </a:rPr>
              <a:t>AOV =</a:t>
            </a:r>
            <a:endParaRPr lang="en-US" sz="9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400" dirty="0">
                <a:solidFill>
                  <a:srgbClr val="24313A"/>
                </a:solidFill>
                <a:latin typeface="Aptos" pitchFamily="34" charset="0"/>
                <a:ea typeface="Courier New" pitchFamily="34" charset="-122"/>
                <a:cs typeface="Courier New" pitchFamily="34" charset="-120"/>
              </a:rPr>
              <a:t>DIVIDE([Total Sales], [Total Orders])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246120" y="1234440"/>
            <a:ext cx="2651760" cy="27889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0B6E4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410712" y="135331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B6E4F"/>
                </a:solidFill>
                <a:latin typeface="Aptos"/>
              </a:rPr>
              <a:t>TIME COMPARISONS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410712" y="1691640"/>
            <a:ext cx="23774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700"/>
              </a:spcAft>
              <a:buNone/>
            </a:pPr>
            <a:r>
              <a:rPr lang="en-US" sz="1400" dirty="0">
                <a:solidFill>
                  <a:srgbClr val="24313A"/>
                </a:solidFill>
                <a:latin typeface="Aptos" pitchFamily="34" charset="0"/>
                <a:ea typeface="Courier New" pitchFamily="34" charset="-122"/>
                <a:cs typeface="Courier New" pitchFamily="34" charset="-120"/>
              </a:rPr>
              <a:t>YTD Sales =</a:t>
            </a:r>
            <a:endParaRPr lang="en-US" sz="9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400" dirty="0">
                <a:solidFill>
                  <a:srgbClr val="24313A"/>
                </a:solidFill>
                <a:latin typeface="Aptos" pitchFamily="34" charset="0"/>
                <a:ea typeface="Courier New" pitchFamily="34" charset="-122"/>
                <a:cs typeface="Courier New" pitchFamily="34" charset="-120"/>
              </a:rPr>
              <a:t>TOTALYTD([Total Sales], Dim_Date[Date])</a:t>
            </a:r>
            <a:endParaRPr lang="en-US" sz="9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400" dirty="0">
                <a:solidFill>
                  <a:srgbClr val="24313A"/>
                </a:solidFill>
                <a:latin typeface="Aptos" pitchFamily="34" charset="0"/>
                <a:ea typeface="Courier New" pitchFamily="34" charset="-122"/>
                <a:cs typeface="Courier New" pitchFamily="34" charset="-120"/>
              </a:rPr>
              <a:t>PY Sales =</a:t>
            </a:r>
            <a:endParaRPr lang="en-US" sz="9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400" dirty="0">
                <a:solidFill>
                  <a:srgbClr val="24313A"/>
                </a:solidFill>
                <a:latin typeface="Aptos" pitchFamily="34" charset="0"/>
                <a:ea typeface="Courier New" pitchFamily="34" charset="-122"/>
                <a:cs typeface="Courier New" pitchFamily="34" charset="-120"/>
              </a:rPr>
              <a:t>CALCULATE([Total Sales],</a:t>
            </a:r>
            <a:endParaRPr lang="en-US" sz="9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400" dirty="0">
                <a:solidFill>
                  <a:srgbClr val="24313A"/>
                </a:solidFill>
                <a:latin typeface="Aptos" pitchFamily="34" charset="0"/>
                <a:ea typeface="Courier New" pitchFamily="34" charset="-122"/>
                <a:cs typeface="Courier New" pitchFamily="34" charset="-120"/>
              </a:rPr>
              <a:t>SAMEPERIODLASTYEAR(Dim_Date[Date]))</a:t>
            </a:r>
            <a:endParaRPr lang="en-US" sz="9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400" dirty="0">
                <a:solidFill>
                  <a:srgbClr val="24313A"/>
                </a:solidFill>
                <a:latin typeface="Aptos" pitchFamily="34" charset="0"/>
                <a:ea typeface="Courier New" pitchFamily="34" charset="-122"/>
                <a:cs typeface="Courier New" pitchFamily="34" charset="-120"/>
              </a:rPr>
              <a:t>YoY % =</a:t>
            </a:r>
            <a:endParaRPr lang="en-US" sz="9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400" dirty="0">
                <a:solidFill>
                  <a:srgbClr val="24313A"/>
                </a:solidFill>
                <a:latin typeface="Aptos" pitchFamily="34" charset="0"/>
                <a:ea typeface="Courier New" pitchFamily="34" charset="-122"/>
                <a:cs typeface="Courier New" pitchFamily="34" charset="-120"/>
              </a:rPr>
              <a:t>DIVIDE([Total Sales]-[PY Sales], [PY Sales])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035040" y="1234440"/>
            <a:ext cx="2651760" cy="27889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0B6E4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199632" y="135331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B6E4F"/>
                </a:solidFill>
                <a:latin typeface="Aptos"/>
              </a:rPr>
              <a:t>BUDGET &amp; RANKING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199632" y="1691640"/>
            <a:ext cx="23774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700"/>
              </a:spcAft>
              <a:buNone/>
            </a:pPr>
            <a:r>
              <a:rPr lang="en-US" sz="1400" dirty="0">
                <a:solidFill>
                  <a:srgbClr val="24313A"/>
                </a:solidFill>
                <a:latin typeface="Aptos" pitchFamily="34" charset="0"/>
                <a:ea typeface="Courier New" pitchFamily="34" charset="-122"/>
                <a:cs typeface="Courier New" pitchFamily="34" charset="-120"/>
              </a:rPr>
              <a:t>Variance =</a:t>
            </a:r>
            <a:endParaRPr lang="en-US" sz="9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400" dirty="0">
                <a:solidFill>
                  <a:srgbClr val="24313A"/>
                </a:solidFill>
                <a:latin typeface="Aptos" pitchFamily="34" charset="0"/>
                <a:ea typeface="Courier New" pitchFamily="34" charset="-122"/>
                <a:cs typeface="Courier New" pitchFamily="34" charset="-120"/>
              </a:rPr>
              <a:t>[Total Sales] - [Budget]</a:t>
            </a:r>
            <a:endParaRPr lang="en-US" sz="9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400" dirty="0">
                <a:solidFill>
                  <a:srgbClr val="24313A"/>
                </a:solidFill>
                <a:latin typeface="Aptos" pitchFamily="34" charset="0"/>
                <a:ea typeface="Courier New" pitchFamily="34" charset="-122"/>
                <a:cs typeface="Courier New" pitchFamily="34" charset="-120"/>
              </a:rPr>
              <a:t>Achievement % =</a:t>
            </a:r>
            <a:endParaRPr lang="en-US" sz="9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400" dirty="0">
                <a:solidFill>
                  <a:srgbClr val="24313A"/>
                </a:solidFill>
                <a:latin typeface="Aptos" pitchFamily="34" charset="0"/>
                <a:ea typeface="Courier New" pitchFamily="34" charset="-122"/>
                <a:cs typeface="Courier New" pitchFamily="34" charset="-120"/>
              </a:rPr>
              <a:t>DIVIDE([Total Sales], [Budget])</a:t>
            </a:r>
            <a:endParaRPr lang="en-US" sz="9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400" dirty="0">
                <a:solidFill>
                  <a:srgbClr val="24313A"/>
                </a:solidFill>
                <a:latin typeface="Aptos" pitchFamily="34" charset="0"/>
                <a:ea typeface="Courier New" pitchFamily="34" charset="-122"/>
                <a:cs typeface="Courier New" pitchFamily="34" charset="-120"/>
              </a:rPr>
              <a:t>Rank =</a:t>
            </a:r>
            <a:endParaRPr lang="en-US" sz="9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400" dirty="0">
                <a:solidFill>
                  <a:srgbClr val="24313A"/>
                </a:solidFill>
                <a:latin typeface="Aptos" pitchFamily="34" charset="0"/>
                <a:ea typeface="Courier New" pitchFamily="34" charset="-122"/>
                <a:cs typeface="Courier New" pitchFamily="34" charset="-120"/>
              </a:rPr>
              <a:t>RANKX(ALL(Dim_Product), [Total Sales])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416052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40080" y="41605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>
                <a:solidFill>
                  <a:srgbClr val="24313A"/>
                </a:solidFill>
                <a:latin typeface="Aptos"/>
              </a:rPr>
              <a:t>Columns store row-level calculations; measures remain responsive to slicers and filters.</a:t>
            </a:r>
            <a:endParaRPr lang="en-US" sz="1150" dirty="0"/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FFFFF"/>
          </a:solidFill>
          <a:ln>
            <a:solidFill>
              <a:srgbClr val="0B6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6537960"/>
            <a:ext cx="11155680" cy="10972"/>
          </a:xfrm>
          <a:prstGeom prst="rect">
            <a:avLst/>
          </a:prstGeom>
          <a:solidFill>
            <a:srgbClr val="FFFFFF"/>
          </a:solidFill>
          <a:ln>
            <a:solidFill>
              <a:srgbClr val="0B6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FFFFFF"/>
          </a:solidFill>
          <a:ln>
            <a:solidFill>
              <a:srgbClr val="0B6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9456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24313A"/>
                </a:solidFill>
                <a:latin typeface="Aptos"/>
              </a:rPr>
              <a:t>05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28600"/>
            <a:ext cx="1005840" cy="64008"/>
          </a:xfrm>
          <a:prstGeom prst="rect">
            <a:avLst/>
          </a:prstGeom>
          <a:solidFill>
            <a:srgbClr val="F26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77266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2600" b="1">
                <a:solidFill>
                  <a:srgbClr val="24313A"/>
                </a:solidFill>
                <a:latin typeface="Aptos"/>
              </a:rPr>
              <a:t>The business is stable, but growth is not accelerating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>
                <a:solidFill>
                  <a:srgbClr val="24313A"/>
                </a:solidFill>
                <a:latin typeface="Aptos"/>
              </a:rPr>
              <a:t>Retail Sales &amp; Budget Analytics  |  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5361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457200" y="1316736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F26430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$25.66M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810512"/>
            <a:ext cx="1536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sz="1400">
                <a:solidFill>
                  <a:srgbClr val="24313A"/>
                </a:solidFill>
                <a:latin typeface="Aptos"/>
              </a:rPr>
              <a:t>Total sales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130552" y="1188720"/>
            <a:ext cx="15361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2130552" y="1316736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F26430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$8.34M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2130552" y="1810512"/>
            <a:ext cx="1536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sz="1400">
                <a:solidFill>
                  <a:srgbClr val="24313A"/>
                </a:solidFill>
                <a:latin typeface="Aptos"/>
              </a:rPr>
              <a:t>Gross profit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803904" y="1188720"/>
            <a:ext cx="15361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3803904" y="1316736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F26430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32.5%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3803904" y="1810512"/>
            <a:ext cx="1536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sz="1400">
                <a:solidFill>
                  <a:srgbClr val="24313A"/>
                </a:solidFill>
                <a:latin typeface="Aptos"/>
              </a:rPr>
              <a:t>Gross margin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77256" y="1188720"/>
            <a:ext cx="15361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5477256" y="1316736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F26430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10,889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5477256" y="1810512"/>
            <a:ext cx="1536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sz="1400">
                <a:solidFill>
                  <a:srgbClr val="24313A"/>
                </a:solidFill>
                <a:latin typeface="Aptos"/>
              </a:rPr>
              <a:t>Orders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150608" y="1188720"/>
            <a:ext cx="15361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7150608" y="1316736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F26430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$2,357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7150608" y="1810512"/>
            <a:ext cx="1536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sz="1400">
                <a:solidFill>
                  <a:srgbClr val="24313A"/>
                </a:solidFill>
                <a:latin typeface="Aptos"/>
              </a:rPr>
              <a:t>Average order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286000"/>
            <a:ext cx="47548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0B6E4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graphicFrame>
        <p:nvGraphicFramePr>
          <p:cNvPr id="20" name="Chart 0"/>
          <p:cNvGraphicFramePr/>
          <p:nvPr/>
        </p:nvGraphicFramePr>
        <p:xfrm>
          <a:off x="548640" y="2331720"/>
          <a:ext cx="457200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1" name="Shape 18"/>
          <p:cNvSpPr/>
          <p:nvPr/>
        </p:nvSpPr>
        <p:spPr>
          <a:xfrm>
            <a:off x="5394960" y="2286000"/>
            <a:ext cx="32918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0B6E4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19"/>
          <p:cNvSpPr txBox="1"/>
          <p:nvPr/>
        </p:nvSpPr>
        <p:spPr>
          <a:xfrm>
            <a:off x="5577840" y="24140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B6E4F"/>
                </a:solidFill>
                <a:latin typeface="Aptos"/>
              </a:rPr>
              <a:t>COMPARABLE PERIOD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5577840" y="2724912"/>
            <a:ext cx="29260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400">
                <a:solidFill>
                  <a:srgbClr val="24313A"/>
                </a:solidFill>
                <a:latin typeface="Aptos"/>
              </a:rPr>
              <a:t>Using Jan 1–Mar 15 for a fair comparison: 2021 $2.47M • 2022 $2.32M • 2023 $2.40M. The 2023 figure is not a full-year result.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394960" y="3794760"/>
            <a:ext cx="32918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0B6E4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5" name="Text 22"/>
          <p:cNvSpPr txBox="1"/>
          <p:nvPr/>
        </p:nvSpPr>
        <p:spPr>
          <a:xfrm>
            <a:off x="5577840" y="39227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B6E4F"/>
                </a:solidFill>
                <a:latin typeface="Aptos"/>
              </a:rPr>
              <a:t>MARGIN SIGNAL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5577840" y="4233672"/>
            <a:ext cx="2926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400">
                <a:solidFill>
                  <a:srgbClr val="24313A"/>
                </a:solidFill>
                <a:latin typeface="Aptos"/>
              </a:rPr>
              <a:t>Gross margin remains almost unchanged: 32.6% in 2021, 32.5% in 2022 and 32.5% in 2023.</a:t>
            </a:r>
            <a:endParaRPr lang="en-US" sz="1150" dirty="0"/>
          </a:p>
        </p:txBody>
      </p:sp>
      <p:sp>
        <p:nvSpPr>
          <p:cNvPr id="27" name="Rectangle 26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FFFFF"/>
          </a:solidFill>
          <a:ln>
            <a:solidFill>
              <a:srgbClr val="0B6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6537960"/>
            <a:ext cx="11155680" cy="10972"/>
          </a:xfrm>
          <a:prstGeom prst="rect">
            <a:avLst/>
          </a:prstGeom>
          <a:solidFill>
            <a:srgbClr val="FFFFFF"/>
          </a:solidFill>
          <a:ln>
            <a:solidFill>
              <a:srgbClr val="0B6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FFFFFF"/>
          </a:solidFill>
          <a:ln>
            <a:solidFill>
              <a:srgbClr val="0B6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66760" y="219456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24313A"/>
                </a:solidFill>
                <a:latin typeface="Aptos"/>
              </a:rPr>
              <a:t>06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228600"/>
            <a:ext cx="1005840" cy="64008"/>
          </a:xfrm>
          <a:prstGeom prst="rect">
            <a:avLst/>
          </a:prstGeom>
          <a:solidFill>
            <a:srgbClr val="F26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77266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2600" b="1">
                <a:solidFill>
                  <a:srgbClr val="24313A"/>
                </a:solidFill>
                <a:latin typeface="Aptos"/>
              </a:rPr>
              <a:t>Seasonality explains much of the monthly movement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>
                <a:solidFill>
                  <a:srgbClr val="24313A"/>
                </a:solidFill>
                <a:latin typeface="Aptos"/>
              </a:rPr>
              <a:t>Retail Sales &amp; Budget Analytics  |  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521208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9525">
            <a:solidFill>
              <a:srgbClr val="0B6E4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graphicFrame>
        <p:nvGraphicFramePr>
          <p:cNvPr id="5" name="Chart 0"/>
          <p:cNvGraphicFramePr/>
          <p:nvPr/>
        </p:nvGraphicFramePr>
        <p:xfrm>
          <a:off x="548640" y="1234440"/>
          <a:ext cx="502920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852160" y="1188720"/>
            <a:ext cx="28346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0B6E4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6035040" y="131673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B6E4F"/>
                </a:solidFill>
                <a:latin typeface="Aptos"/>
              </a:rPr>
              <a:t>PATTERN 01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162763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400">
                <a:solidFill>
                  <a:srgbClr val="24313A"/>
                </a:solidFill>
                <a:latin typeface="Aptos"/>
              </a:rPr>
              <a:t>November, December and June are the strongest months; July and August are the softer period.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852160" y="2423160"/>
            <a:ext cx="28346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0B6E4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035040" y="255117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B6E4F"/>
                </a:solidFill>
                <a:latin typeface="Aptos"/>
              </a:rPr>
              <a:t>PATTERN 02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035040" y="2862072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400">
                <a:solidFill>
                  <a:srgbClr val="24313A"/>
                </a:solidFill>
                <a:latin typeface="Aptos"/>
              </a:rPr>
              <a:t>Q4 2022 generated $3.07M, the strongest quarter in the period.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852160" y="3566160"/>
            <a:ext cx="28346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0B6E4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6035040" y="369417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B6E4F"/>
                </a:solidFill>
                <a:latin typeface="Aptos"/>
              </a:rPr>
              <a:t>PATTERN 03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6035040" y="400507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400">
                <a:solidFill>
                  <a:srgbClr val="24313A"/>
                </a:solidFill>
                <a:latin typeface="Aptos"/>
              </a:rPr>
              <a:t>2022 ended about 1.1% below 2021, while the comparable early-2023 period improved 3.7% over 2022.</a:t>
            </a:r>
            <a:endParaRPr lang="en-US" sz="1150" dirty="0"/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FFFFF"/>
          </a:solidFill>
          <a:ln>
            <a:solidFill>
              <a:srgbClr val="0B6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6537960"/>
            <a:ext cx="11155680" cy="10972"/>
          </a:xfrm>
          <a:prstGeom prst="rect">
            <a:avLst/>
          </a:prstGeom>
          <a:solidFill>
            <a:srgbClr val="FFFFFF"/>
          </a:solidFill>
          <a:ln>
            <a:solidFill>
              <a:srgbClr val="0B6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FFFFFF"/>
          </a:solidFill>
          <a:ln>
            <a:solidFill>
              <a:srgbClr val="0B6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9456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24313A"/>
                </a:solidFill>
                <a:latin typeface="Aptos"/>
              </a:rPr>
              <a:t>07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28600"/>
            <a:ext cx="1005840" cy="64008"/>
          </a:xfrm>
          <a:prstGeom prst="rect">
            <a:avLst/>
          </a:prstGeom>
          <a:solidFill>
            <a:srgbClr val="F26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77266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2600" b="1">
                <a:solidFill>
                  <a:srgbClr val="24313A"/>
                </a:solidFill>
                <a:latin typeface="Aptos"/>
              </a:rPr>
              <a:t>Revenue leaders and profit leaders are not always the same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>
                <a:solidFill>
                  <a:srgbClr val="24313A"/>
                </a:solidFill>
                <a:latin typeface="Aptos"/>
              </a:rPr>
              <a:t>Retail Sales &amp; Budget Analytics  |  8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9525">
            <a:solidFill>
              <a:srgbClr val="0B6E4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graphicFrame>
        <p:nvGraphicFramePr>
          <p:cNvPr id="5" name="Chart 0"/>
          <p:cNvGraphicFramePr/>
          <p:nvPr/>
        </p:nvGraphicFramePr>
        <p:xfrm>
          <a:off x="548640" y="1234440"/>
          <a:ext cx="438912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212080" y="1188720"/>
            <a:ext cx="34747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0B6E4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394960" y="131673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B6E4F"/>
                </a:solidFill>
                <a:latin typeface="Aptos"/>
              </a:rPr>
              <a:t>VOLUME WITH LOW MARGIN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394960" y="1627632"/>
            <a:ext cx="310896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400">
                <a:solidFill>
                  <a:srgbClr val="24313A"/>
                </a:solidFill>
                <a:latin typeface="Aptos"/>
              </a:rPr>
              <a:t>Product 84 generated $529K at 17% margin; Products 66 and 4 also sit below 20%. Fifteen of 101 products fall under that threshold.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212080" y="2880360"/>
            <a:ext cx="34747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B6E4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394960" y="300837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B6E4F"/>
                </a:solidFill>
                <a:latin typeface="Aptos"/>
              </a:rPr>
              <a:t>PROFITABILITY LEADERS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394960" y="331927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400">
                <a:solidFill>
                  <a:srgbClr val="24313A"/>
                </a:solidFill>
                <a:latin typeface="Aptos"/>
              </a:rPr>
              <a:t>Product 63 leads revenue at $628K with 28% margin. Product 28 generates the highest profit at $248K with 41% margin.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212080" y="3886200"/>
            <a:ext cx="34747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0B6E4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5394960" y="40142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B6E4F"/>
                </a:solidFill>
                <a:latin typeface="Aptos"/>
              </a:rPr>
              <a:t>CUSTOMER MIX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394960" y="4325112"/>
            <a:ext cx="3108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400">
                <a:solidFill>
                  <a:srgbClr val="24313A"/>
                </a:solidFill>
                <a:latin typeface="Aptos"/>
              </a:rPr>
              <a:t>The top 10 customers contribute 5.4% of sales. A group of 155 active buyers accounts for roughly half of revenue.</a:t>
            </a:r>
            <a:endParaRPr lang="en-US" sz="1150" dirty="0"/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FFFFF"/>
          </a:solidFill>
          <a:ln>
            <a:solidFill>
              <a:srgbClr val="0B6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6537960"/>
            <a:ext cx="11155680" cy="10972"/>
          </a:xfrm>
          <a:prstGeom prst="rect">
            <a:avLst/>
          </a:prstGeom>
          <a:solidFill>
            <a:srgbClr val="FFFFFF"/>
          </a:solidFill>
          <a:ln>
            <a:solidFill>
              <a:srgbClr val="0B6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FFFFFF"/>
          </a:solidFill>
          <a:ln>
            <a:solidFill>
              <a:srgbClr val="0B6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9456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24313A"/>
                </a:solidFill>
                <a:latin typeface="Aptos"/>
              </a:rPr>
              <a:t>08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28600"/>
            <a:ext cx="1005840" cy="64008"/>
          </a:xfrm>
          <a:prstGeom prst="rect">
            <a:avLst/>
          </a:prstGeom>
          <a:solidFill>
            <a:srgbClr val="F26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77266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2600" b="1">
                <a:solidFill>
                  <a:srgbClr val="24313A"/>
                </a:solidFill>
                <a:latin typeface="Aptos"/>
              </a:rPr>
              <a:t>Large populations do not automatically translate into sales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>
                <a:solidFill>
                  <a:srgbClr val="24313A"/>
                </a:solidFill>
                <a:latin typeface="Aptos"/>
              </a:rPr>
              <a:t>Retail Sales &amp; Budget Analytics  |  9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233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9525">
            <a:solidFill>
              <a:srgbClr val="0B6E4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graphicFrame>
        <p:nvGraphicFramePr>
          <p:cNvPr id="5" name="Chart 0"/>
          <p:cNvGraphicFramePr/>
          <p:nvPr/>
        </p:nvGraphicFramePr>
        <p:xfrm>
          <a:off x="548640" y="1234440"/>
          <a:ext cx="384048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4663440" y="118872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0B6E4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4846320" y="13167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B6E4F"/>
                </a:solidFill>
                <a:latin typeface="Aptos"/>
              </a:rPr>
              <a:t>MARKET SIGNAL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846320" y="1627632"/>
            <a:ext cx="365760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400">
                <a:solidFill>
                  <a:srgbClr val="24313A"/>
                </a:solidFill>
                <a:latin typeface="Aptos"/>
              </a:rPr>
              <a:t>Sales and population show a very weak correlation of 0.07. Los Angeles has about 3.97M residents but only about $96 in sales per 1,000 residents, compared with $575 in Fresno.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663440" y="297180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0B6E4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846320" y="309981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B6E4F"/>
                </a:solidFill>
                <a:latin typeface="Aptos"/>
              </a:rPr>
              <a:t>TEAM SIGNAL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846320" y="3410712"/>
            <a:ext cx="365760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400">
                <a:solidFill>
                  <a:srgbClr val="24313A"/>
                </a:solidFill>
                <a:latin typeface="Aptos"/>
              </a:rPr>
              <a:t>Kenneth Bradley leads sales at $679K and profit at $227K. Ryan Welch records the highest order count at 273.</a:t>
            </a:r>
            <a:endParaRPr lang="en-US" sz="1150" dirty="0"/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FFFFF"/>
          </a:solidFill>
          <a:ln>
            <a:solidFill>
              <a:srgbClr val="0B6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6537960"/>
            <a:ext cx="11155680" cy="10972"/>
          </a:xfrm>
          <a:prstGeom prst="rect">
            <a:avLst/>
          </a:prstGeom>
          <a:solidFill>
            <a:srgbClr val="FFFFFF"/>
          </a:solidFill>
          <a:ln>
            <a:solidFill>
              <a:srgbClr val="0B6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FFFFFF"/>
          </a:solidFill>
          <a:ln>
            <a:solidFill>
              <a:srgbClr val="0B6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219456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24313A"/>
                </a:solidFill>
                <a:latin typeface="Aptos"/>
              </a:rPr>
              <a:t>09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28600"/>
            <a:ext cx="1005840" cy="64008"/>
          </a:xfrm>
          <a:prstGeom prst="rect">
            <a:avLst/>
          </a:prstGeom>
          <a:solidFill>
            <a:srgbClr val="F26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77266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2600" b="1">
                <a:solidFill>
                  <a:srgbClr val="24313A"/>
                </a:solidFill>
                <a:latin typeface="Aptos"/>
              </a:rPr>
              <a:t>Budget reporting needs a data-quality checkpoint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>
                <a:solidFill>
                  <a:srgbClr val="24313A"/>
                </a:solidFill>
                <a:latin typeface="Aptos"/>
              </a:rPr>
              <a:t>Retail Sales &amp; Budget Analytics  |  10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233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9525">
            <a:solidFill>
              <a:srgbClr val="0B6E4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graphicFrame>
        <p:nvGraphicFramePr>
          <p:cNvPr id="5" name="Chart 0"/>
          <p:cNvGraphicFramePr/>
          <p:nvPr/>
        </p:nvGraphicFramePr>
        <p:xfrm>
          <a:off x="548640" y="1234440"/>
          <a:ext cx="384048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4663440" y="1188720"/>
            <a:ext cx="40233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0B6E4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4846320" y="13167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B6E4F"/>
                </a:solidFill>
                <a:latin typeface="Aptos"/>
              </a:rPr>
              <a:t>WHAT THE MODEL SHOWS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846320" y="1627632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400">
                <a:solidFill>
                  <a:srgbClr val="24313A"/>
                </a:solidFill>
                <a:latin typeface="Aptos"/>
              </a:rPr>
              <a:t>Actual sales are roughly 3.6 times the recorded budget overall, with location-level achievement from about 1.7x to 8.5x.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663440" y="2377440"/>
            <a:ext cx="40233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0B6E4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846320" y="25054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B6E4F"/>
                </a:solidFill>
                <a:latin typeface="Aptos"/>
              </a:rPr>
              <a:t>WHY THIS NEEDS REVIEW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846320" y="2816352"/>
            <a:ext cx="36576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400">
                <a:solidFill>
                  <a:srgbClr val="24313A"/>
                </a:solidFill>
                <a:latin typeface="Aptos"/>
              </a:rPr>
              <a:t>Budget names do not match the location dimension for the same IDs, and 23 budget locations have no corresponding sales.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663440" y="36118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0B6E4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4846320" y="37398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B6E4F"/>
                </a:solidFill>
                <a:latin typeface="Aptos"/>
              </a:rPr>
              <a:t>MANAGEMENT ACTION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846320" y="4050792"/>
            <a:ext cx="36576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400">
                <a:solidFill>
                  <a:srgbClr val="24313A"/>
                </a:solidFill>
                <a:latin typeface="Aptos"/>
              </a:rPr>
              <a:t>Validate the budget scale and location mapping before using achievement percentages for performance decisions.</a:t>
            </a:r>
            <a:endParaRPr lang="en-US" sz="1150" dirty="0"/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FFFFF"/>
          </a:solidFill>
          <a:ln>
            <a:solidFill>
              <a:srgbClr val="0B6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6537960"/>
            <a:ext cx="11155680" cy="10972"/>
          </a:xfrm>
          <a:prstGeom prst="rect">
            <a:avLst/>
          </a:prstGeom>
          <a:solidFill>
            <a:srgbClr val="FFFFFF"/>
          </a:solidFill>
          <a:ln>
            <a:solidFill>
              <a:srgbClr val="0B6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FFFFFF"/>
          </a:solidFill>
          <a:ln>
            <a:solidFill>
              <a:srgbClr val="0B6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9456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24313A"/>
                </a:solidFill>
                <a:latin typeface="Aptos"/>
              </a:rPr>
              <a:t>10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28600"/>
            <a:ext cx="1005840" cy="64008"/>
          </a:xfrm>
          <a:prstGeom prst="rect">
            <a:avLst/>
          </a:prstGeom>
          <a:solidFill>
            <a:srgbClr val="F26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77266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2600" b="1">
                <a:solidFill>
                  <a:srgbClr val="24313A"/>
                </a:solidFill>
                <a:latin typeface="Aptos"/>
              </a:rPr>
              <a:t>Key takeaways and next actions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>
                <a:solidFill>
                  <a:srgbClr val="24313A"/>
                </a:solidFill>
                <a:latin typeface="Aptos"/>
              </a:rPr>
              <a:t>Retail Sales &amp; Budget Analytics  | 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651760" cy="34290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58368" y="13716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B6E4F"/>
                </a:solidFill>
                <a:latin typeface="Aptos"/>
              </a:rPr>
              <a:t>WHAT IS WORKING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1874520"/>
            <a:ext cx="2286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sz="1400">
                <a:solidFill>
                  <a:srgbClr val="24313A"/>
                </a:solidFill>
                <a:latin typeface="Aptos"/>
              </a:rPr>
              <a:t>Stable ~32.5% margin</a:t>
            </a:r>
            <a:br/>
            <a:r>
              <a:rPr sz="1400">
                <a:solidFill>
                  <a:srgbClr val="24313A"/>
                </a:solidFill>
                <a:latin typeface="Aptos"/>
              </a:rPr>
              <a:t>Broad customer base</a:t>
            </a:r>
            <a:br/>
            <a:r>
              <a:rPr sz="1400">
                <a:solidFill>
                  <a:srgbClr val="24313A"/>
                </a:solidFill>
                <a:latin typeface="Aptos"/>
              </a:rPr>
              <a:t>All 74 locations and 45 salespeople contribute sales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46120" y="1188720"/>
            <a:ext cx="2651760" cy="34290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447288" y="13716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B6E4F"/>
                </a:solidFill>
                <a:latin typeface="Aptos"/>
              </a:rPr>
              <a:t>WHERE TO LOOK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447288" y="1874520"/>
            <a:ext cx="2286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sz="1400">
                <a:solidFill>
                  <a:srgbClr val="24313A"/>
                </a:solidFill>
                <a:latin typeface="Aptos"/>
              </a:rPr>
              <a:t>Growth is broadly flat</a:t>
            </a:r>
            <a:br/>
            <a:r>
              <a:rPr sz="1400">
                <a:solidFill>
                  <a:srgbClr val="24313A"/>
                </a:solidFill>
                <a:latin typeface="Aptos"/>
              </a:rPr>
              <a:t>15 products fall below 20% margin</a:t>
            </a:r>
            <a:br/>
            <a:r>
              <a:rPr sz="1400">
                <a:solidFill>
                  <a:srgbClr val="24313A"/>
                </a:solidFill>
                <a:latin typeface="Aptos"/>
              </a:rPr>
              <a:t>Budget data requires reconciliation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035040" y="1188720"/>
            <a:ext cx="2651760" cy="34290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236208" y="13716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>
                <a:solidFill>
                  <a:srgbClr val="0B6E4F"/>
                </a:solidFill>
                <a:latin typeface="Aptos"/>
              </a:rPr>
              <a:t>WHAT TO DO NEXT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236208" y="1874520"/>
            <a:ext cx="2286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sz="1400">
                <a:solidFill>
                  <a:srgbClr val="24313A"/>
                </a:solidFill>
                <a:latin typeface="Aptos"/>
              </a:rPr>
              <a:t>Review price/cost structure for Products 84, 66 and 4</a:t>
            </a:r>
            <a:br/>
            <a:r>
              <a:rPr sz="1400">
                <a:solidFill>
                  <a:srgbClr val="24313A"/>
                </a:solidFill>
                <a:latin typeface="Aptos"/>
              </a:rPr>
              <a:t>Test growth campaigns in large under-penetrated markets</a:t>
            </a:r>
            <a:br/>
            <a:r>
              <a:rPr sz="1400">
                <a:solidFill>
                  <a:srgbClr val="24313A"/>
                </a:solidFill>
                <a:latin typeface="Aptos"/>
              </a:rPr>
              <a:t>Repair budget master data and monitor monthly achievement</a:t>
            </a:r>
            <a:br/>
            <a:r>
              <a:rPr sz="1400">
                <a:solidFill>
                  <a:srgbClr val="24313A"/>
                </a:solidFill>
                <a:latin typeface="Aptos"/>
              </a:rPr>
              <a:t>Use July–August promotions and customer reactivation to address weak demand</a:t>
            </a:r>
            <a:endParaRPr lang="en-US" sz="1300" dirty="0"/>
          </a:p>
        </p:txBody>
      </p:sp>
      <p:sp>
        <p:nvSpPr>
          <p:cNvPr id="13" name="Rectangle 1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FFFFF"/>
          </a:solidFill>
          <a:ln>
            <a:solidFill>
              <a:srgbClr val="0B6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6537960"/>
            <a:ext cx="11155680" cy="10972"/>
          </a:xfrm>
          <a:prstGeom prst="rect">
            <a:avLst/>
          </a:prstGeom>
          <a:solidFill>
            <a:srgbClr val="FFFFFF"/>
          </a:solidFill>
          <a:ln>
            <a:solidFill>
              <a:srgbClr val="0B6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FFFFFF"/>
          </a:solidFill>
          <a:ln>
            <a:solidFill>
              <a:srgbClr val="0B6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219456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24313A"/>
                </a:solidFill>
                <a:latin typeface="Aptos"/>
              </a:rPr>
              <a:t>11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228600"/>
            <a:ext cx="1005840" cy="64008"/>
          </a:xfrm>
          <a:prstGeom prst="rect">
            <a:avLst/>
          </a:prstGeom>
          <a:solidFill>
            <a:srgbClr val="F26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1089</Words>
  <Application>Microsoft Office PowerPoint</Application>
  <PresentationFormat>On-screen Show (16:9)</PresentationFormat>
  <Paragraphs>159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Retail Sales Performance &amp; Budget Intelligence Dashboard</dc:title>
  <dc:subject>PptxGenJS Presentation</dc:subject>
  <dc:creator>PptxGenJS</dc:creator>
  <cp:lastModifiedBy>CHINDANUR NAKUL SRIRAJ</cp:lastModifiedBy>
  <cp:revision>2</cp:revision>
  <dcterms:created xsi:type="dcterms:W3CDTF">2026-09-28T12:49:03Z</dcterms:created>
  <dcterms:modified xsi:type="dcterms:W3CDTF">2026-09-28T12:52:04Z</dcterms:modified>
</cp:coreProperties>
</file>